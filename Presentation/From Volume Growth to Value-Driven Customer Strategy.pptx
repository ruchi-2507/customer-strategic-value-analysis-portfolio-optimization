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1" r:id="rId1"/>
  </p:sldMasterIdLst>
  <p:sldIdLst>
    <p:sldId id="297" r:id="rId2"/>
    <p:sldId id="260" r:id="rId3"/>
    <p:sldId id="292" r:id="rId4"/>
    <p:sldId id="298" r:id="rId5"/>
    <p:sldId id="299" r:id="rId6"/>
    <p:sldId id="300" r:id="rId7"/>
    <p:sldId id="261" r:id="rId8"/>
    <p:sldId id="29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AC21EF-6749-49B5-8768-8AF82D9FE21C}">
          <p14:sldIdLst>
            <p14:sldId id="297"/>
            <p14:sldId id="260"/>
            <p14:sldId id="292"/>
            <p14:sldId id="298"/>
            <p14:sldId id="299"/>
            <p14:sldId id="300"/>
            <p14:sldId id="261"/>
            <p14:sldId id="296"/>
          </p14:sldIdLst>
        </p14:section>
        <p14:section name="Untitled Section" id="{F5B28F1C-76F3-4F5D-A784-76FDFB102F5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8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D498A-0213-45CA-973C-447059416063}" type="doc">
      <dgm:prSet loTypeId="urn:microsoft.com/office/officeart/2005/8/layout/process2" loCatId="process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81D315BA-0493-4451-9DBA-63563E1CF0DD}">
      <dgm:prSet phldrT="[Text]"/>
      <dgm:spPr/>
      <dgm:t>
        <a:bodyPr/>
        <a:lstStyle/>
        <a:p>
          <a:r>
            <a:rPr lang="en-US" dirty="0"/>
            <a:t>Customer Data</a:t>
          </a:r>
          <a:endParaRPr lang="en-IN" dirty="0"/>
        </a:p>
      </dgm:t>
    </dgm:pt>
    <dgm:pt modelId="{08A8179D-F7E0-4EC6-83F6-AE357045F5F6}" type="parTrans" cxnId="{5C952493-6BBD-43F7-9E52-ECCB73B77A3A}">
      <dgm:prSet/>
      <dgm:spPr/>
      <dgm:t>
        <a:bodyPr/>
        <a:lstStyle/>
        <a:p>
          <a:endParaRPr lang="en-IN"/>
        </a:p>
      </dgm:t>
    </dgm:pt>
    <dgm:pt modelId="{44758835-75BC-4F1A-BFC2-0AA188D82DCA}" type="sibTrans" cxnId="{5C952493-6BBD-43F7-9E52-ECCB73B77A3A}">
      <dgm:prSet/>
      <dgm:spPr/>
      <dgm:t>
        <a:bodyPr/>
        <a:lstStyle/>
        <a:p>
          <a:endParaRPr lang="en-IN"/>
        </a:p>
      </dgm:t>
    </dgm:pt>
    <dgm:pt modelId="{3056EAA5-D753-4A86-AED4-ADD94426BB20}">
      <dgm:prSet phldrT="[Text]" phldr="0"/>
      <dgm:spPr/>
      <dgm:t>
        <a:bodyPr/>
        <a:lstStyle/>
        <a:p>
          <a:r>
            <a:rPr lang="en-US" dirty="0"/>
            <a:t>Team Allocation</a:t>
          </a:r>
          <a:endParaRPr lang="en-IN" dirty="0"/>
        </a:p>
      </dgm:t>
    </dgm:pt>
    <dgm:pt modelId="{79933ED0-961C-4A28-9F7F-08B85EBA8B2F}" type="parTrans" cxnId="{E82A6646-98C1-4B73-BCB4-3E7D8CC44BBC}">
      <dgm:prSet/>
      <dgm:spPr/>
      <dgm:t>
        <a:bodyPr/>
        <a:lstStyle/>
        <a:p>
          <a:endParaRPr lang="en-IN"/>
        </a:p>
      </dgm:t>
    </dgm:pt>
    <dgm:pt modelId="{90D68F45-DBBD-49A1-BD63-FD3D31112607}" type="sibTrans" cxnId="{E82A6646-98C1-4B73-BCB4-3E7D8CC44BBC}">
      <dgm:prSet/>
      <dgm:spPr/>
      <dgm:t>
        <a:bodyPr/>
        <a:lstStyle/>
        <a:p>
          <a:endParaRPr lang="en-IN"/>
        </a:p>
      </dgm:t>
    </dgm:pt>
    <dgm:pt modelId="{6D0E1092-7796-4139-857E-3D47EFB7AAE0}">
      <dgm:prSet phldrT="[Text]" phldr="0"/>
      <dgm:spPr/>
      <dgm:t>
        <a:bodyPr/>
        <a:lstStyle/>
        <a:p>
          <a:r>
            <a:rPr lang="en-US" dirty="0"/>
            <a:t>Targeted Investment &amp; Portfolio improvement</a:t>
          </a:r>
          <a:endParaRPr lang="en-IN" dirty="0"/>
        </a:p>
      </dgm:t>
    </dgm:pt>
    <dgm:pt modelId="{ABED7189-BFF9-4873-8E00-D2F79C1F6FCA}" type="parTrans" cxnId="{C757D2BE-DA2A-4E73-BD64-86BE931AD31C}">
      <dgm:prSet/>
      <dgm:spPr/>
      <dgm:t>
        <a:bodyPr/>
        <a:lstStyle/>
        <a:p>
          <a:endParaRPr lang="en-IN"/>
        </a:p>
      </dgm:t>
    </dgm:pt>
    <dgm:pt modelId="{EA1D9A3A-7534-420C-AD34-AEF694DD4791}" type="sibTrans" cxnId="{C757D2BE-DA2A-4E73-BD64-86BE931AD31C}">
      <dgm:prSet/>
      <dgm:spPr/>
      <dgm:t>
        <a:bodyPr/>
        <a:lstStyle/>
        <a:p>
          <a:endParaRPr lang="en-IN"/>
        </a:p>
      </dgm:t>
    </dgm:pt>
    <dgm:pt modelId="{B304FEEE-96C9-4081-91A8-486ED7F7C2BA}">
      <dgm:prSet/>
      <dgm:spPr/>
      <dgm:t>
        <a:bodyPr/>
        <a:lstStyle/>
        <a:p>
          <a:r>
            <a:rPr lang="en-US" dirty="0"/>
            <a:t>Strategic Value Framework</a:t>
          </a:r>
          <a:endParaRPr lang="en-IN" dirty="0"/>
        </a:p>
      </dgm:t>
    </dgm:pt>
    <dgm:pt modelId="{24F86096-6C76-4F42-B964-46EDCCE7948E}" type="parTrans" cxnId="{9D1D21EE-0F1C-4099-850D-FAD4E2C2C693}">
      <dgm:prSet/>
      <dgm:spPr/>
      <dgm:t>
        <a:bodyPr/>
        <a:lstStyle/>
        <a:p>
          <a:endParaRPr lang="en-IN"/>
        </a:p>
      </dgm:t>
    </dgm:pt>
    <dgm:pt modelId="{E1B50878-D836-44B6-936C-3F2D64F835A3}" type="sibTrans" cxnId="{9D1D21EE-0F1C-4099-850D-FAD4E2C2C693}">
      <dgm:prSet/>
      <dgm:spPr/>
      <dgm:t>
        <a:bodyPr/>
        <a:lstStyle/>
        <a:p>
          <a:endParaRPr lang="en-IN"/>
        </a:p>
      </dgm:t>
    </dgm:pt>
    <dgm:pt modelId="{0C934839-891E-4F55-A7DD-1EC6601AF1C8}" type="pres">
      <dgm:prSet presAssocID="{4C4D498A-0213-45CA-973C-447059416063}" presName="linearFlow" presStyleCnt="0">
        <dgm:presLayoutVars>
          <dgm:resizeHandles val="exact"/>
        </dgm:presLayoutVars>
      </dgm:prSet>
      <dgm:spPr/>
    </dgm:pt>
    <dgm:pt modelId="{619503C4-2121-42E3-A478-7007C3941C32}" type="pres">
      <dgm:prSet presAssocID="{81D315BA-0493-4451-9DBA-63563E1CF0DD}" presName="node" presStyleLbl="node1" presStyleIdx="0" presStyleCnt="4">
        <dgm:presLayoutVars>
          <dgm:bulletEnabled val="1"/>
        </dgm:presLayoutVars>
      </dgm:prSet>
      <dgm:spPr/>
    </dgm:pt>
    <dgm:pt modelId="{D66B9EC1-F864-4922-B979-3E3C7999A7EF}" type="pres">
      <dgm:prSet presAssocID="{44758835-75BC-4F1A-BFC2-0AA188D82DCA}" presName="sibTrans" presStyleLbl="sibTrans2D1" presStyleIdx="0" presStyleCnt="3"/>
      <dgm:spPr/>
    </dgm:pt>
    <dgm:pt modelId="{A9F5ECC3-0016-4B87-A8B8-4C9A23617BEE}" type="pres">
      <dgm:prSet presAssocID="{44758835-75BC-4F1A-BFC2-0AA188D82DCA}" presName="connectorText" presStyleLbl="sibTrans2D1" presStyleIdx="0" presStyleCnt="3"/>
      <dgm:spPr/>
    </dgm:pt>
    <dgm:pt modelId="{39706028-4811-4F13-B405-8AB50B2780A1}" type="pres">
      <dgm:prSet presAssocID="{B304FEEE-96C9-4081-91A8-486ED7F7C2BA}" presName="node" presStyleLbl="node1" presStyleIdx="1" presStyleCnt="4">
        <dgm:presLayoutVars>
          <dgm:bulletEnabled val="1"/>
        </dgm:presLayoutVars>
      </dgm:prSet>
      <dgm:spPr/>
    </dgm:pt>
    <dgm:pt modelId="{D57BF845-112A-47A0-849F-AEE6BA9A6897}" type="pres">
      <dgm:prSet presAssocID="{E1B50878-D836-44B6-936C-3F2D64F835A3}" presName="sibTrans" presStyleLbl="sibTrans2D1" presStyleIdx="1" presStyleCnt="3"/>
      <dgm:spPr/>
    </dgm:pt>
    <dgm:pt modelId="{75A3A16E-D280-43CB-8D73-3E9630CD05C8}" type="pres">
      <dgm:prSet presAssocID="{E1B50878-D836-44B6-936C-3F2D64F835A3}" presName="connectorText" presStyleLbl="sibTrans2D1" presStyleIdx="1" presStyleCnt="3"/>
      <dgm:spPr/>
    </dgm:pt>
    <dgm:pt modelId="{0AE6C5E7-55BF-4524-89CD-F11F1AF19D70}" type="pres">
      <dgm:prSet presAssocID="{3056EAA5-D753-4A86-AED4-ADD94426BB20}" presName="node" presStyleLbl="node1" presStyleIdx="2" presStyleCnt="4">
        <dgm:presLayoutVars>
          <dgm:bulletEnabled val="1"/>
        </dgm:presLayoutVars>
      </dgm:prSet>
      <dgm:spPr/>
    </dgm:pt>
    <dgm:pt modelId="{C0AAD289-BA17-48F7-A73C-10E4931AD478}" type="pres">
      <dgm:prSet presAssocID="{90D68F45-DBBD-49A1-BD63-FD3D31112607}" presName="sibTrans" presStyleLbl="sibTrans2D1" presStyleIdx="2" presStyleCnt="3"/>
      <dgm:spPr/>
    </dgm:pt>
    <dgm:pt modelId="{267AFCC8-F73D-458C-A993-5E696B2117F2}" type="pres">
      <dgm:prSet presAssocID="{90D68F45-DBBD-49A1-BD63-FD3D31112607}" presName="connectorText" presStyleLbl="sibTrans2D1" presStyleIdx="2" presStyleCnt="3"/>
      <dgm:spPr/>
    </dgm:pt>
    <dgm:pt modelId="{C01F3BED-BD90-4B99-AA85-4BE5208B0E87}" type="pres">
      <dgm:prSet presAssocID="{6D0E1092-7796-4139-857E-3D47EFB7AAE0}" presName="node" presStyleLbl="node1" presStyleIdx="3" presStyleCnt="4">
        <dgm:presLayoutVars>
          <dgm:bulletEnabled val="1"/>
        </dgm:presLayoutVars>
      </dgm:prSet>
      <dgm:spPr/>
    </dgm:pt>
  </dgm:ptLst>
  <dgm:cxnLst>
    <dgm:cxn modelId="{BB2A0E01-BB06-4453-92E7-95CFAA29E08C}" type="presOf" srcId="{E1B50878-D836-44B6-936C-3F2D64F835A3}" destId="{D57BF845-112A-47A0-849F-AEE6BA9A6897}" srcOrd="0" destOrd="0" presId="urn:microsoft.com/office/officeart/2005/8/layout/process2"/>
    <dgm:cxn modelId="{46C48D02-5B72-4E7A-A941-E9289B7CDBFE}" type="presOf" srcId="{E1B50878-D836-44B6-936C-3F2D64F835A3}" destId="{75A3A16E-D280-43CB-8D73-3E9630CD05C8}" srcOrd="1" destOrd="0" presId="urn:microsoft.com/office/officeart/2005/8/layout/process2"/>
    <dgm:cxn modelId="{E82A6646-98C1-4B73-BCB4-3E7D8CC44BBC}" srcId="{4C4D498A-0213-45CA-973C-447059416063}" destId="{3056EAA5-D753-4A86-AED4-ADD94426BB20}" srcOrd="2" destOrd="0" parTransId="{79933ED0-961C-4A28-9F7F-08B85EBA8B2F}" sibTransId="{90D68F45-DBBD-49A1-BD63-FD3D31112607}"/>
    <dgm:cxn modelId="{91F5BC68-83B6-4D46-9C2C-D6045CE26B83}" type="presOf" srcId="{44758835-75BC-4F1A-BFC2-0AA188D82DCA}" destId="{D66B9EC1-F864-4922-B979-3E3C7999A7EF}" srcOrd="0" destOrd="0" presId="urn:microsoft.com/office/officeart/2005/8/layout/process2"/>
    <dgm:cxn modelId="{B38CBB53-1670-4B52-86D0-68F62BDCEC3E}" type="presOf" srcId="{4C4D498A-0213-45CA-973C-447059416063}" destId="{0C934839-891E-4F55-A7DD-1EC6601AF1C8}" srcOrd="0" destOrd="0" presId="urn:microsoft.com/office/officeart/2005/8/layout/process2"/>
    <dgm:cxn modelId="{E28E0F7B-4D3A-40E7-866E-67CC6F92055B}" type="presOf" srcId="{90D68F45-DBBD-49A1-BD63-FD3D31112607}" destId="{267AFCC8-F73D-458C-A993-5E696B2117F2}" srcOrd="1" destOrd="0" presId="urn:microsoft.com/office/officeart/2005/8/layout/process2"/>
    <dgm:cxn modelId="{7A30258C-43C6-4027-9A05-2253E3F9CC2D}" type="presOf" srcId="{81D315BA-0493-4451-9DBA-63563E1CF0DD}" destId="{619503C4-2121-42E3-A478-7007C3941C32}" srcOrd="0" destOrd="0" presId="urn:microsoft.com/office/officeart/2005/8/layout/process2"/>
    <dgm:cxn modelId="{0B4B188E-904A-4802-9ECC-A5E77A86CB81}" type="presOf" srcId="{90D68F45-DBBD-49A1-BD63-FD3D31112607}" destId="{C0AAD289-BA17-48F7-A73C-10E4931AD478}" srcOrd="0" destOrd="0" presId="urn:microsoft.com/office/officeart/2005/8/layout/process2"/>
    <dgm:cxn modelId="{5C952493-6BBD-43F7-9E52-ECCB73B77A3A}" srcId="{4C4D498A-0213-45CA-973C-447059416063}" destId="{81D315BA-0493-4451-9DBA-63563E1CF0DD}" srcOrd="0" destOrd="0" parTransId="{08A8179D-F7E0-4EC6-83F6-AE357045F5F6}" sibTransId="{44758835-75BC-4F1A-BFC2-0AA188D82DCA}"/>
    <dgm:cxn modelId="{D11AD8B0-08F7-4AFD-92D6-A47E3465E565}" type="presOf" srcId="{3056EAA5-D753-4A86-AED4-ADD94426BB20}" destId="{0AE6C5E7-55BF-4524-89CD-F11F1AF19D70}" srcOrd="0" destOrd="0" presId="urn:microsoft.com/office/officeart/2005/8/layout/process2"/>
    <dgm:cxn modelId="{C757D2BE-DA2A-4E73-BD64-86BE931AD31C}" srcId="{4C4D498A-0213-45CA-973C-447059416063}" destId="{6D0E1092-7796-4139-857E-3D47EFB7AAE0}" srcOrd="3" destOrd="0" parTransId="{ABED7189-BFF9-4873-8E00-D2F79C1F6FCA}" sibTransId="{EA1D9A3A-7534-420C-AD34-AEF694DD4791}"/>
    <dgm:cxn modelId="{4FA02ACB-8A27-4944-B611-07F6F6A44924}" type="presOf" srcId="{6D0E1092-7796-4139-857E-3D47EFB7AAE0}" destId="{C01F3BED-BD90-4B99-AA85-4BE5208B0E87}" srcOrd="0" destOrd="0" presId="urn:microsoft.com/office/officeart/2005/8/layout/process2"/>
    <dgm:cxn modelId="{8BC8E7CF-5632-4470-B0E0-D247EC0ABE67}" type="presOf" srcId="{44758835-75BC-4F1A-BFC2-0AA188D82DCA}" destId="{A9F5ECC3-0016-4B87-A8B8-4C9A23617BEE}" srcOrd="1" destOrd="0" presId="urn:microsoft.com/office/officeart/2005/8/layout/process2"/>
    <dgm:cxn modelId="{9D1D21EE-0F1C-4099-850D-FAD4E2C2C693}" srcId="{4C4D498A-0213-45CA-973C-447059416063}" destId="{B304FEEE-96C9-4081-91A8-486ED7F7C2BA}" srcOrd="1" destOrd="0" parTransId="{24F86096-6C76-4F42-B964-46EDCCE7948E}" sibTransId="{E1B50878-D836-44B6-936C-3F2D64F835A3}"/>
    <dgm:cxn modelId="{683123F5-1CC4-4541-8F15-227FA269557D}" type="presOf" srcId="{B304FEEE-96C9-4081-91A8-486ED7F7C2BA}" destId="{39706028-4811-4F13-B405-8AB50B2780A1}" srcOrd="0" destOrd="0" presId="urn:microsoft.com/office/officeart/2005/8/layout/process2"/>
    <dgm:cxn modelId="{6FF24226-55FF-41D8-9515-455528EFDB5A}" type="presParOf" srcId="{0C934839-891E-4F55-A7DD-1EC6601AF1C8}" destId="{619503C4-2121-42E3-A478-7007C3941C32}" srcOrd="0" destOrd="0" presId="urn:microsoft.com/office/officeart/2005/8/layout/process2"/>
    <dgm:cxn modelId="{573484F6-5F06-4FA6-A0D4-993CFA20A77C}" type="presParOf" srcId="{0C934839-891E-4F55-A7DD-1EC6601AF1C8}" destId="{D66B9EC1-F864-4922-B979-3E3C7999A7EF}" srcOrd="1" destOrd="0" presId="urn:microsoft.com/office/officeart/2005/8/layout/process2"/>
    <dgm:cxn modelId="{31986300-1905-4509-A7DA-C8B42728643D}" type="presParOf" srcId="{D66B9EC1-F864-4922-B979-3E3C7999A7EF}" destId="{A9F5ECC3-0016-4B87-A8B8-4C9A23617BEE}" srcOrd="0" destOrd="0" presId="urn:microsoft.com/office/officeart/2005/8/layout/process2"/>
    <dgm:cxn modelId="{626F1973-1210-414C-8F8A-F214FE689198}" type="presParOf" srcId="{0C934839-891E-4F55-A7DD-1EC6601AF1C8}" destId="{39706028-4811-4F13-B405-8AB50B2780A1}" srcOrd="2" destOrd="0" presId="urn:microsoft.com/office/officeart/2005/8/layout/process2"/>
    <dgm:cxn modelId="{772ABC16-0572-42BA-AEA0-D7DC86991A31}" type="presParOf" srcId="{0C934839-891E-4F55-A7DD-1EC6601AF1C8}" destId="{D57BF845-112A-47A0-849F-AEE6BA9A6897}" srcOrd="3" destOrd="0" presId="urn:microsoft.com/office/officeart/2005/8/layout/process2"/>
    <dgm:cxn modelId="{F8AC4C05-7E2C-458C-85C4-B50273731C20}" type="presParOf" srcId="{D57BF845-112A-47A0-849F-AEE6BA9A6897}" destId="{75A3A16E-D280-43CB-8D73-3E9630CD05C8}" srcOrd="0" destOrd="0" presId="urn:microsoft.com/office/officeart/2005/8/layout/process2"/>
    <dgm:cxn modelId="{4A0FED85-96E5-489E-A922-7F72CC5E6DC8}" type="presParOf" srcId="{0C934839-891E-4F55-A7DD-1EC6601AF1C8}" destId="{0AE6C5E7-55BF-4524-89CD-F11F1AF19D70}" srcOrd="4" destOrd="0" presId="urn:microsoft.com/office/officeart/2005/8/layout/process2"/>
    <dgm:cxn modelId="{264023AA-538E-485E-8F07-53CCB4245945}" type="presParOf" srcId="{0C934839-891E-4F55-A7DD-1EC6601AF1C8}" destId="{C0AAD289-BA17-48F7-A73C-10E4931AD478}" srcOrd="5" destOrd="0" presId="urn:microsoft.com/office/officeart/2005/8/layout/process2"/>
    <dgm:cxn modelId="{D3E817D2-5E74-48C5-891D-C4D5068DF4EE}" type="presParOf" srcId="{C0AAD289-BA17-48F7-A73C-10E4931AD478}" destId="{267AFCC8-F73D-458C-A993-5E696B2117F2}" srcOrd="0" destOrd="0" presId="urn:microsoft.com/office/officeart/2005/8/layout/process2"/>
    <dgm:cxn modelId="{4D6935B2-B3F3-46E2-9DB5-54D0FD88BFC1}" type="presParOf" srcId="{0C934839-891E-4F55-A7DD-1EC6601AF1C8}" destId="{C01F3BED-BD90-4B99-AA85-4BE5208B0E87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4B033D-179E-4A4E-9FF3-F23B5366EB7D}" type="doc">
      <dgm:prSet loTypeId="urn:microsoft.com/office/officeart/2005/8/layout/hList1" loCatId="list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2FC17156-4E44-4F0F-AA1D-DCFB504FABE9}">
      <dgm:prSet phldrT="[Text]" phldr="0"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Economic Strength (35%)</a:t>
          </a:r>
        </a:p>
      </dgm:t>
    </dgm:pt>
    <dgm:pt modelId="{67DA2995-BD72-4010-9A98-CF10FBA6EDBC}" type="parTrans" cxnId="{88B0BF0A-0E1B-4A34-AA08-5A372D34B129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576CDEC7-CA80-464C-952A-A0DBD3E9450A}" type="sibTrans" cxnId="{88B0BF0A-0E1B-4A34-AA08-5A372D34B129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E53DA41C-AC26-479A-B94F-A7A6525D3570}">
      <dgm:prSet phldrT="[Text]" phldr="0"/>
      <dgm:spPr/>
      <dgm:t>
        <a:bodyPr/>
        <a:lstStyle/>
        <a:p>
          <a:endParaRPr lang="en-US" dirty="0">
            <a:latin typeface="Book Antiqua" panose="02040602050305030304" pitchFamily="18" charset="0"/>
          </a:endParaRPr>
        </a:p>
        <a:p>
          <a:r>
            <a:rPr lang="en-US" dirty="0">
              <a:latin typeface="Book Antiqua" panose="02040602050305030304" pitchFamily="18" charset="0"/>
            </a:rPr>
            <a:t>Engagement Depth (25%)</a:t>
          </a:r>
        </a:p>
        <a:p>
          <a:endParaRPr lang="en-IN" dirty="0">
            <a:latin typeface="Book Antiqua" panose="02040602050305030304" pitchFamily="18" charset="0"/>
          </a:endParaRPr>
        </a:p>
      </dgm:t>
    </dgm:pt>
    <dgm:pt modelId="{9ADF3C83-08D4-4A60-89E5-2E8E577D82AB}" type="parTrans" cxnId="{1DE6B8D6-3188-479D-85EB-A60E7E8DB217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FC5D84EC-A1A7-4E1B-9656-68F33E9D4925}" type="sibTrans" cxnId="{1DE6B8D6-3188-479D-85EB-A60E7E8DB217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230EB92E-268F-4284-8A96-0CE82935189F}">
      <dgm:prSet phldrT="[Text]" phldr="0"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Stability (20%)</a:t>
          </a:r>
        </a:p>
      </dgm:t>
    </dgm:pt>
    <dgm:pt modelId="{2A178230-AA92-4064-99EF-AEC3AE0B75AB}" type="parTrans" cxnId="{7108E03B-E121-40BE-8F56-793CE52B4E0E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CD190DB5-A82F-4A00-A26D-D7D0A7CF288F}" type="sibTrans" cxnId="{7108E03B-E121-40BE-8F56-793CE52B4E0E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AF22DFF3-7C02-457B-996D-350C0F8E5769}">
      <dgm:prSet phldrT="[Text]" phldr="0"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Growth Potential (20%)</a:t>
          </a:r>
        </a:p>
      </dgm:t>
    </dgm:pt>
    <dgm:pt modelId="{2C8F1770-69A1-400E-8B09-3FF17C10BF6C}" type="parTrans" cxnId="{C3FC9EDB-257B-4656-8C9D-5FA08F199E3F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70D2679D-576F-4EC1-97DE-E32015378353}" type="sibTrans" cxnId="{C3FC9EDB-257B-4656-8C9D-5FA08F199E3F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0EA010A2-6463-41E2-8C6B-F5468BDA968F}">
      <dgm:prSet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Measures current revenue distribution</a:t>
          </a:r>
          <a:endParaRPr lang="en-IN" dirty="0"/>
        </a:p>
      </dgm:t>
    </dgm:pt>
    <dgm:pt modelId="{F2B794FA-49C3-4B94-B777-65E7C2866CAA}" type="parTrans" cxnId="{8C87F2FE-3DA2-41C5-86B0-1F5F8468132E}">
      <dgm:prSet/>
      <dgm:spPr/>
      <dgm:t>
        <a:bodyPr/>
        <a:lstStyle/>
        <a:p>
          <a:endParaRPr lang="en-IN"/>
        </a:p>
      </dgm:t>
    </dgm:pt>
    <dgm:pt modelId="{D63954E3-E0FB-42EC-BEC1-A52089D9B545}" type="sibTrans" cxnId="{8C87F2FE-3DA2-41C5-86B0-1F5F8468132E}">
      <dgm:prSet/>
      <dgm:spPr/>
      <dgm:t>
        <a:bodyPr/>
        <a:lstStyle/>
        <a:p>
          <a:endParaRPr lang="en-IN"/>
        </a:p>
      </dgm:t>
    </dgm:pt>
    <dgm:pt modelId="{D34937E0-7D6B-4A37-8415-85DD0E425872}">
      <dgm:prSet/>
      <dgm:spPr/>
      <dgm:t>
        <a:bodyPr/>
        <a:lstStyle/>
        <a:p>
          <a:r>
            <a:rPr lang="en-IN">
              <a:latin typeface="Book Antiqua" panose="02040602050305030304" pitchFamily="18" charset="0"/>
            </a:rPr>
            <a:t>Measures platform Interaction Intensity</a:t>
          </a:r>
          <a:endParaRPr lang="en-IN"/>
        </a:p>
      </dgm:t>
    </dgm:pt>
    <dgm:pt modelId="{ABB7758B-4AEE-45A1-83BE-0F9AF8B6AE64}" type="parTrans" cxnId="{DFC80721-CB87-4250-AC29-7150F84F6D79}">
      <dgm:prSet/>
      <dgm:spPr/>
      <dgm:t>
        <a:bodyPr/>
        <a:lstStyle/>
        <a:p>
          <a:endParaRPr lang="en-IN"/>
        </a:p>
      </dgm:t>
    </dgm:pt>
    <dgm:pt modelId="{51496E36-2F9C-4088-8E35-77430052CDBD}" type="sibTrans" cxnId="{DFC80721-CB87-4250-AC29-7150F84F6D79}">
      <dgm:prSet/>
      <dgm:spPr/>
      <dgm:t>
        <a:bodyPr/>
        <a:lstStyle/>
        <a:p>
          <a:endParaRPr lang="en-IN"/>
        </a:p>
      </dgm:t>
    </dgm:pt>
    <dgm:pt modelId="{A76A3873-2D62-4F55-A9DA-53513D815B29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Captures operational reliability of customers</a:t>
          </a:r>
          <a:endParaRPr lang="en-IN"/>
        </a:p>
      </dgm:t>
    </dgm:pt>
    <dgm:pt modelId="{35CE5E19-4209-484A-8A00-FFD479247F4D}" type="parTrans" cxnId="{3CF412EE-74E2-4E51-9E39-0A721E171B2D}">
      <dgm:prSet/>
      <dgm:spPr/>
      <dgm:t>
        <a:bodyPr/>
        <a:lstStyle/>
        <a:p>
          <a:endParaRPr lang="en-IN"/>
        </a:p>
      </dgm:t>
    </dgm:pt>
    <dgm:pt modelId="{65BBE43D-8C00-4E06-ABBA-67EFB1C5B8CB}" type="sibTrans" cxnId="{3CF412EE-74E2-4E51-9E39-0A721E171B2D}">
      <dgm:prSet/>
      <dgm:spPr/>
      <dgm:t>
        <a:bodyPr/>
        <a:lstStyle/>
        <a:p>
          <a:endParaRPr lang="en-IN"/>
        </a:p>
      </dgm:t>
    </dgm:pt>
    <dgm:pt modelId="{000A158D-FF74-4DBB-A7E8-E819B587AAD3}">
      <dgm:prSet/>
      <dgm:spPr/>
      <dgm:t>
        <a:bodyPr/>
        <a:lstStyle/>
        <a:p>
          <a:r>
            <a:rPr lang="en-IN">
              <a:latin typeface="Book Antiqua" panose="02040602050305030304" pitchFamily="18" charset="0"/>
            </a:rPr>
            <a:t>Measures future monetisation opportunities</a:t>
          </a:r>
          <a:endParaRPr lang="en-IN"/>
        </a:p>
      </dgm:t>
    </dgm:pt>
    <dgm:pt modelId="{A906562C-A4E1-4DBC-8532-7EB46947A966}" type="parTrans" cxnId="{8611B279-CC2A-433E-9AF8-A87989F2E2F0}">
      <dgm:prSet/>
      <dgm:spPr/>
      <dgm:t>
        <a:bodyPr/>
        <a:lstStyle/>
        <a:p>
          <a:endParaRPr lang="en-IN"/>
        </a:p>
      </dgm:t>
    </dgm:pt>
    <dgm:pt modelId="{A59DA6BF-059B-4FFD-A2C3-F5D83DA03F08}" type="sibTrans" cxnId="{8611B279-CC2A-433E-9AF8-A87989F2E2F0}">
      <dgm:prSet/>
      <dgm:spPr/>
      <dgm:t>
        <a:bodyPr/>
        <a:lstStyle/>
        <a:p>
          <a:endParaRPr lang="en-IN"/>
        </a:p>
      </dgm:t>
    </dgm:pt>
    <dgm:pt modelId="{B634BAA4-A2DA-4A90-A624-C7FEC0815AB9}" type="pres">
      <dgm:prSet presAssocID="{C74B033D-179E-4A4E-9FF3-F23B5366EB7D}" presName="Name0" presStyleCnt="0">
        <dgm:presLayoutVars>
          <dgm:dir/>
          <dgm:animLvl val="lvl"/>
          <dgm:resizeHandles val="exact"/>
        </dgm:presLayoutVars>
      </dgm:prSet>
      <dgm:spPr/>
    </dgm:pt>
    <dgm:pt modelId="{7E8CD502-C45F-4A34-AF2E-92C4434BDE19}" type="pres">
      <dgm:prSet presAssocID="{2FC17156-4E44-4F0F-AA1D-DCFB504FABE9}" presName="composite" presStyleCnt="0"/>
      <dgm:spPr/>
    </dgm:pt>
    <dgm:pt modelId="{7A59568E-D159-4C4C-B3E2-96B130C86C3C}" type="pres">
      <dgm:prSet presAssocID="{2FC17156-4E44-4F0F-AA1D-DCFB504FABE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E75BF62-158F-4704-AB3B-8D48276766B6}" type="pres">
      <dgm:prSet presAssocID="{2FC17156-4E44-4F0F-AA1D-DCFB504FABE9}" presName="desTx" presStyleLbl="alignAccFollowNode1" presStyleIdx="0" presStyleCnt="4">
        <dgm:presLayoutVars>
          <dgm:bulletEnabled val="1"/>
        </dgm:presLayoutVars>
      </dgm:prSet>
      <dgm:spPr/>
    </dgm:pt>
    <dgm:pt modelId="{9E72DB1A-41A2-4BD4-B937-D6905B3D9D4E}" type="pres">
      <dgm:prSet presAssocID="{576CDEC7-CA80-464C-952A-A0DBD3E9450A}" presName="space" presStyleCnt="0"/>
      <dgm:spPr/>
    </dgm:pt>
    <dgm:pt modelId="{5D132BE9-F399-44C6-9756-0B60AC7D2AF0}" type="pres">
      <dgm:prSet presAssocID="{E53DA41C-AC26-479A-B94F-A7A6525D3570}" presName="composite" presStyleCnt="0"/>
      <dgm:spPr/>
    </dgm:pt>
    <dgm:pt modelId="{A92D0518-7874-4E8B-9453-0B29D637179E}" type="pres">
      <dgm:prSet presAssocID="{E53DA41C-AC26-479A-B94F-A7A6525D357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3B916D2-93CA-4176-8CE5-5C2A0F04864E}" type="pres">
      <dgm:prSet presAssocID="{E53DA41C-AC26-479A-B94F-A7A6525D3570}" presName="desTx" presStyleLbl="alignAccFollowNode1" presStyleIdx="1" presStyleCnt="4">
        <dgm:presLayoutVars>
          <dgm:bulletEnabled val="1"/>
        </dgm:presLayoutVars>
      </dgm:prSet>
      <dgm:spPr/>
    </dgm:pt>
    <dgm:pt modelId="{EB109097-91D1-4EE8-830D-C7D9F429B3E5}" type="pres">
      <dgm:prSet presAssocID="{FC5D84EC-A1A7-4E1B-9656-68F33E9D4925}" presName="space" presStyleCnt="0"/>
      <dgm:spPr/>
    </dgm:pt>
    <dgm:pt modelId="{ED7DC915-104C-4335-B59F-04443261E481}" type="pres">
      <dgm:prSet presAssocID="{230EB92E-268F-4284-8A96-0CE82935189F}" presName="composite" presStyleCnt="0"/>
      <dgm:spPr/>
    </dgm:pt>
    <dgm:pt modelId="{1807EA51-7DC5-4C69-BF72-60AB7FA27986}" type="pres">
      <dgm:prSet presAssocID="{230EB92E-268F-4284-8A96-0CE82935189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A1D072A-CA85-4F9C-9AE3-904710AF51DF}" type="pres">
      <dgm:prSet presAssocID="{230EB92E-268F-4284-8A96-0CE82935189F}" presName="desTx" presStyleLbl="alignAccFollowNode1" presStyleIdx="2" presStyleCnt="4">
        <dgm:presLayoutVars>
          <dgm:bulletEnabled val="1"/>
        </dgm:presLayoutVars>
      </dgm:prSet>
      <dgm:spPr/>
    </dgm:pt>
    <dgm:pt modelId="{76A983A2-4243-49AF-8591-740C766CA5A3}" type="pres">
      <dgm:prSet presAssocID="{CD190DB5-A82F-4A00-A26D-D7D0A7CF288F}" presName="space" presStyleCnt="0"/>
      <dgm:spPr/>
    </dgm:pt>
    <dgm:pt modelId="{EF507804-CB88-4A81-B555-46C50A45B493}" type="pres">
      <dgm:prSet presAssocID="{AF22DFF3-7C02-457B-996D-350C0F8E5769}" presName="composite" presStyleCnt="0"/>
      <dgm:spPr/>
    </dgm:pt>
    <dgm:pt modelId="{E707D91C-AF2C-44AE-9A53-15439B4C065E}" type="pres">
      <dgm:prSet presAssocID="{AF22DFF3-7C02-457B-996D-350C0F8E576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00A34AC-27F3-4591-80FC-01E2B403A9D4}" type="pres">
      <dgm:prSet presAssocID="{AF22DFF3-7C02-457B-996D-350C0F8E576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466E207-3183-4DA7-B425-785F802830C4}" type="presOf" srcId="{2FC17156-4E44-4F0F-AA1D-DCFB504FABE9}" destId="{7A59568E-D159-4C4C-B3E2-96B130C86C3C}" srcOrd="0" destOrd="0" presId="urn:microsoft.com/office/officeart/2005/8/layout/hList1"/>
    <dgm:cxn modelId="{88B0BF0A-0E1B-4A34-AA08-5A372D34B129}" srcId="{C74B033D-179E-4A4E-9FF3-F23B5366EB7D}" destId="{2FC17156-4E44-4F0F-AA1D-DCFB504FABE9}" srcOrd="0" destOrd="0" parTransId="{67DA2995-BD72-4010-9A98-CF10FBA6EDBC}" sibTransId="{576CDEC7-CA80-464C-952A-A0DBD3E9450A}"/>
    <dgm:cxn modelId="{DFC80721-CB87-4250-AC29-7150F84F6D79}" srcId="{E53DA41C-AC26-479A-B94F-A7A6525D3570}" destId="{D34937E0-7D6B-4A37-8415-85DD0E425872}" srcOrd="0" destOrd="0" parTransId="{ABB7758B-4AEE-45A1-83BE-0F9AF8B6AE64}" sibTransId="{51496E36-2F9C-4088-8E35-77430052CDBD}"/>
    <dgm:cxn modelId="{EEE0AE3A-B86A-427B-99D3-F6BFA9202A1C}" type="presOf" srcId="{A76A3873-2D62-4F55-A9DA-53513D815B29}" destId="{3A1D072A-CA85-4F9C-9AE3-904710AF51DF}" srcOrd="0" destOrd="0" presId="urn:microsoft.com/office/officeart/2005/8/layout/hList1"/>
    <dgm:cxn modelId="{7108E03B-E121-40BE-8F56-793CE52B4E0E}" srcId="{C74B033D-179E-4A4E-9FF3-F23B5366EB7D}" destId="{230EB92E-268F-4284-8A96-0CE82935189F}" srcOrd="2" destOrd="0" parTransId="{2A178230-AA92-4064-99EF-AEC3AE0B75AB}" sibTransId="{CD190DB5-A82F-4A00-A26D-D7D0A7CF288F}"/>
    <dgm:cxn modelId="{52013369-0CD4-4865-9869-7B945D9061A2}" type="presOf" srcId="{230EB92E-268F-4284-8A96-0CE82935189F}" destId="{1807EA51-7DC5-4C69-BF72-60AB7FA27986}" srcOrd="0" destOrd="0" presId="urn:microsoft.com/office/officeart/2005/8/layout/hList1"/>
    <dgm:cxn modelId="{81867669-7D0C-4A8F-A01E-4A9152F74B57}" type="presOf" srcId="{D34937E0-7D6B-4A37-8415-85DD0E425872}" destId="{23B916D2-93CA-4176-8CE5-5C2A0F04864E}" srcOrd="0" destOrd="0" presId="urn:microsoft.com/office/officeart/2005/8/layout/hList1"/>
    <dgm:cxn modelId="{8611B279-CC2A-433E-9AF8-A87989F2E2F0}" srcId="{AF22DFF3-7C02-457B-996D-350C0F8E5769}" destId="{000A158D-FF74-4DBB-A7E8-E819B587AAD3}" srcOrd="0" destOrd="0" parTransId="{A906562C-A4E1-4DBC-8532-7EB46947A966}" sibTransId="{A59DA6BF-059B-4FFD-A2C3-F5D83DA03F08}"/>
    <dgm:cxn modelId="{F3A2FCB0-5FF4-4577-88C4-B91AC1D7A2B4}" type="presOf" srcId="{C74B033D-179E-4A4E-9FF3-F23B5366EB7D}" destId="{B634BAA4-A2DA-4A90-A624-C7FEC0815AB9}" srcOrd="0" destOrd="0" presId="urn:microsoft.com/office/officeart/2005/8/layout/hList1"/>
    <dgm:cxn modelId="{7CEB31C6-3CCD-4D08-A7A8-E53A2FFDFBC2}" type="presOf" srcId="{AF22DFF3-7C02-457B-996D-350C0F8E5769}" destId="{E707D91C-AF2C-44AE-9A53-15439B4C065E}" srcOrd="0" destOrd="0" presId="urn:microsoft.com/office/officeart/2005/8/layout/hList1"/>
    <dgm:cxn modelId="{A934B0D4-EA4E-454A-AD7A-5D9DC2670758}" type="presOf" srcId="{E53DA41C-AC26-479A-B94F-A7A6525D3570}" destId="{A92D0518-7874-4E8B-9453-0B29D637179E}" srcOrd="0" destOrd="0" presId="urn:microsoft.com/office/officeart/2005/8/layout/hList1"/>
    <dgm:cxn modelId="{1DE6B8D6-3188-479D-85EB-A60E7E8DB217}" srcId="{C74B033D-179E-4A4E-9FF3-F23B5366EB7D}" destId="{E53DA41C-AC26-479A-B94F-A7A6525D3570}" srcOrd="1" destOrd="0" parTransId="{9ADF3C83-08D4-4A60-89E5-2E8E577D82AB}" sibTransId="{FC5D84EC-A1A7-4E1B-9656-68F33E9D4925}"/>
    <dgm:cxn modelId="{C3FC9EDB-257B-4656-8C9D-5FA08F199E3F}" srcId="{C74B033D-179E-4A4E-9FF3-F23B5366EB7D}" destId="{AF22DFF3-7C02-457B-996D-350C0F8E5769}" srcOrd="3" destOrd="0" parTransId="{2C8F1770-69A1-400E-8B09-3FF17C10BF6C}" sibTransId="{70D2679D-576F-4EC1-97DE-E32015378353}"/>
    <dgm:cxn modelId="{D40291E3-B8E0-4CD5-91A8-DF75F3389319}" type="presOf" srcId="{000A158D-FF74-4DBB-A7E8-E819B587AAD3}" destId="{100A34AC-27F3-4591-80FC-01E2B403A9D4}" srcOrd="0" destOrd="0" presId="urn:microsoft.com/office/officeart/2005/8/layout/hList1"/>
    <dgm:cxn modelId="{97F179E8-53EA-4543-BC56-E52A03781297}" type="presOf" srcId="{0EA010A2-6463-41E2-8C6B-F5468BDA968F}" destId="{FE75BF62-158F-4704-AB3B-8D48276766B6}" srcOrd="0" destOrd="0" presId="urn:microsoft.com/office/officeart/2005/8/layout/hList1"/>
    <dgm:cxn modelId="{3CF412EE-74E2-4E51-9E39-0A721E171B2D}" srcId="{230EB92E-268F-4284-8A96-0CE82935189F}" destId="{A76A3873-2D62-4F55-A9DA-53513D815B29}" srcOrd="0" destOrd="0" parTransId="{35CE5E19-4209-484A-8A00-FFD479247F4D}" sibTransId="{65BBE43D-8C00-4E06-ABBA-67EFB1C5B8CB}"/>
    <dgm:cxn modelId="{8C87F2FE-3DA2-41C5-86B0-1F5F8468132E}" srcId="{2FC17156-4E44-4F0F-AA1D-DCFB504FABE9}" destId="{0EA010A2-6463-41E2-8C6B-F5468BDA968F}" srcOrd="0" destOrd="0" parTransId="{F2B794FA-49C3-4B94-B777-65E7C2866CAA}" sibTransId="{D63954E3-E0FB-42EC-BEC1-A52089D9B545}"/>
    <dgm:cxn modelId="{2EE51CDF-E665-482B-8A55-A4DFBE10A7A3}" type="presParOf" srcId="{B634BAA4-A2DA-4A90-A624-C7FEC0815AB9}" destId="{7E8CD502-C45F-4A34-AF2E-92C4434BDE19}" srcOrd="0" destOrd="0" presId="urn:microsoft.com/office/officeart/2005/8/layout/hList1"/>
    <dgm:cxn modelId="{CFFE7AE0-C96D-405E-8AEF-982A347EB125}" type="presParOf" srcId="{7E8CD502-C45F-4A34-AF2E-92C4434BDE19}" destId="{7A59568E-D159-4C4C-B3E2-96B130C86C3C}" srcOrd="0" destOrd="0" presId="urn:microsoft.com/office/officeart/2005/8/layout/hList1"/>
    <dgm:cxn modelId="{891058DC-A2FD-40FB-9661-2B17BF6BCECA}" type="presParOf" srcId="{7E8CD502-C45F-4A34-AF2E-92C4434BDE19}" destId="{FE75BF62-158F-4704-AB3B-8D48276766B6}" srcOrd="1" destOrd="0" presId="urn:microsoft.com/office/officeart/2005/8/layout/hList1"/>
    <dgm:cxn modelId="{C6043A7A-8C9F-4CA9-B503-EF9257480760}" type="presParOf" srcId="{B634BAA4-A2DA-4A90-A624-C7FEC0815AB9}" destId="{9E72DB1A-41A2-4BD4-B937-D6905B3D9D4E}" srcOrd="1" destOrd="0" presId="urn:microsoft.com/office/officeart/2005/8/layout/hList1"/>
    <dgm:cxn modelId="{F8DAA510-A6C7-4802-AFC2-A86FD90FB715}" type="presParOf" srcId="{B634BAA4-A2DA-4A90-A624-C7FEC0815AB9}" destId="{5D132BE9-F399-44C6-9756-0B60AC7D2AF0}" srcOrd="2" destOrd="0" presId="urn:microsoft.com/office/officeart/2005/8/layout/hList1"/>
    <dgm:cxn modelId="{5A4EFEAA-7DD9-48FB-B002-C3B75C2E8E3C}" type="presParOf" srcId="{5D132BE9-F399-44C6-9756-0B60AC7D2AF0}" destId="{A92D0518-7874-4E8B-9453-0B29D637179E}" srcOrd="0" destOrd="0" presId="urn:microsoft.com/office/officeart/2005/8/layout/hList1"/>
    <dgm:cxn modelId="{868EF0ED-6483-413B-AE84-13F0D8F38592}" type="presParOf" srcId="{5D132BE9-F399-44C6-9756-0B60AC7D2AF0}" destId="{23B916D2-93CA-4176-8CE5-5C2A0F04864E}" srcOrd="1" destOrd="0" presId="urn:microsoft.com/office/officeart/2005/8/layout/hList1"/>
    <dgm:cxn modelId="{9699631E-1875-4B9B-9206-87F4F0ED7517}" type="presParOf" srcId="{B634BAA4-A2DA-4A90-A624-C7FEC0815AB9}" destId="{EB109097-91D1-4EE8-830D-C7D9F429B3E5}" srcOrd="3" destOrd="0" presId="urn:microsoft.com/office/officeart/2005/8/layout/hList1"/>
    <dgm:cxn modelId="{6739334A-8952-4A84-8F03-4AE9B8B3DD98}" type="presParOf" srcId="{B634BAA4-A2DA-4A90-A624-C7FEC0815AB9}" destId="{ED7DC915-104C-4335-B59F-04443261E481}" srcOrd="4" destOrd="0" presId="urn:microsoft.com/office/officeart/2005/8/layout/hList1"/>
    <dgm:cxn modelId="{2A32BDDF-E34A-48F8-BBE9-45CAC3A4DE65}" type="presParOf" srcId="{ED7DC915-104C-4335-B59F-04443261E481}" destId="{1807EA51-7DC5-4C69-BF72-60AB7FA27986}" srcOrd="0" destOrd="0" presId="urn:microsoft.com/office/officeart/2005/8/layout/hList1"/>
    <dgm:cxn modelId="{AC6E756F-1171-48D4-9DE1-51E2FE0DCE0D}" type="presParOf" srcId="{ED7DC915-104C-4335-B59F-04443261E481}" destId="{3A1D072A-CA85-4F9C-9AE3-904710AF51DF}" srcOrd="1" destOrd="0" presId="urn:microsoft.com/office/officeart/2005/8/layout/hList1"/>
    <dgm:cxn modelId="{53CA8492-E291-4082-91C8-5947CC3E044A}" type="presParOf" srcId="{B634BAA4-A2DA-4A90-A624-C7FEC0815AB9}" destId="{76A983A2-4243-49AF-8591-740C766CA5A3}" srcOrd="5" destOrd="0" presId="urn:microsoft.com/office/officeart/2005/8/layout/hList1"/>
    <dgm:cxn modelId="{32602F18-BD71-4F50-B13B-88DE6C6F3361}" type="presParOf" srcId="{B634BAA4-A2DA-4A90-A624-C7FEC0815AB9}" destId="{EF507804-CB88-4A81-B555-46C50A45B493}" srcOrd="6" destOrd="0" presId="urn:microsoft.com/office/officeart/2005/8/layout/hList1"/>
    <dgm:cxn modelId="{C678907C-9F1C-44AA-9132-2F24F3277127}" type="presParOf" srcId="{EF507804-CB88-4A81-B555-46C50A45B493}" destId="{E707D91C-AF2C-44AE-9A53-15439B4C065E}" srcOrd="0" destOrd="0" presId="urn:microsoft.com/office/officeart/2005/8/layout/hList1"/>
    <dgm:cxn modelId="{32333F88-9420-49CC-B785-D2AC0A6B0A9E}" type="presParOf" srcId="{EF507804-CB88-4A81-B555-46C50A45B493}" destId="{100A34AC-27F3-4591-80FC-01E2B403A9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503C4-2121-42E3-A478-7007C3941C32}">
      <dsp:nvSpPr>
        <dsp:cNvPr id="0" name=""/>
        <dsp:cNvSpPr/>
      </dsp:nvSpPr>
      <dsp:spPr>
        <a:xfrm>
          <a:off x="1269045" y="1647"/>
          <a:ext cx="2258025" cy="6128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 Data</a:t>
          </a:r>
          <a:endParaRPr lang="en-IN" sz="1600" kern="1200" dirty="0"/>
        </a:p>
      </dsp:txBody>
      <dsp:txXfrm>
        <a:off x="1286996" y="19598"/>
        <a:ext cx="2222123" cy="576995"/>
      </dsp:txXfrm>
    </dsp:sp>
    <dsp:sp modelId="{D66B9EC1-F864-4922-B979-3E3C7999A7EF}">
      <dsp:nvSpPr>
        <dsp:cNvPr id="0" name=""/>
        <dsp:cNvSpPr/>
      </dsp:nvSpPr>
      <dsp:spPr>
        <a:xfrm rot="5400000">
          <a:off x="2283140" y="629867"/>
          <a:ext cx="229836" cy="275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2315318" y="652851"/>
        <a:ext cx="165482" cy="160885"/>
      </dsp:txXfrm>
    </dsp:sp>
    <dsp:sp modelId="{39706028-4811-4F13-B405-8AB50B2780A1}">
      <dsp:nvSpPr>
        <dsp:cNvPr id="0" name=""/>
        <dsp:cNvSpPr/>
      </dsp:nvSpPr>
      <dsp:spPr>
        <a:xfrm>
          <a:off x="1269045" y="920994"/>
          <a:ext cx="2258025" cy="6128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Strategic Value Framework</a:t>
          </a:r>
          <a:endParaRPr lang="en-IN" sz="1600" kern="1200" dirty="0"/>
        </a:p>
      </dsp:txBody>
      <dsp:txXfrm>
        <a:off x="1286996" y="938945"/>
        <a:ext cx="2222123" cy="576995"/>
      </dsp:txXfrm>
    </dsp:sp>
    <dsp:sp modelId="{D57BF845-112A-47A0-849F-AEE6BA9A6897}">
      <dsp:nvSpPr>
        <dsp:cNvPr id="0" name=""/>
        <dsp:cNvSpPr/>
      </dsp:nvSpPr>
      <dsp:spPr>
        <a:xfrm rot="5400000">
          <a:off x="2283140" y="1549214"/>
          <a:ext cx="229836" cy="275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2315318" y="1572198"/>
        <a:ext cx="165482" cy="160885"/>
      </dsp:txXfrm>
    </dsp:sp>
    <dsp:sp modelId="{0AE6C5E7-55BF-4524-89CD-F11F1AF19D70}">
      <dsp:nvSpPr>
        <dsp:cNvPr id="0" name=""/>
        <dsp:cNvSpPr/>
      </dsp:nvSpPr>
      <dsp:spPr>
        <a:xfrm>
          <a:off x="1269045" y="1840340"/>
          <a:ext cx="2258025" cy="6128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Team Allocation</a:t>
          </a:r>
          <a:endParaRPr lang="en-IN" sz="1600" kern="1200" dirty="0"/>
        </a:p>
      </dsp:txBody>
      <dsp:txXfrm>
        <a:off x="1286996" y="1858291"/>
        <a:ext cx="2222123" cy="576995"/>
      </dsp:txXfrm>
    </dsp:sp>
    <dsp:sp modelId="{C0AAD289-BA17-48F7-A73C-10E4931AD478}">
      <dsp:nvSpPr>
        <dsp:cNvPr id="0" name=""/>
        <dsp:cNvSpPr/>
      </dsp:nvSpPr>
      <dsp:spPr>
        <a:xfrm rot="5400000">
          <a:off x="2283140" y="2468561"/>
          <a:ext cx="229836" cy="2758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2315318" y="2491545"/>
        <a:ext cx="165482" cy="160885"/>
      </dsp:txXfrm>
    </dsp:sp>
    <dsp:sp modelId="{C01F3BED-BD90-4B99-AA85-4BE5208B0E87}">
      <dsp:nvSpPr>
        <dsp:cNvPr id="0" name=""/>
        <dsp:cNvSpPr/>
      </dsp:nvSpPr>
      <dsp:spPr>
        <a:xfrm>
          <a:off x="1269045" y="2759687"/>
          <a:ext cx="2258025" cy="6128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Targeted Investment &amp; Portfolio improvement</a:t>
          </a:r>
          <a:endParaRPr lang="en-IN" sz="1600" kern="1200" dirty="0"/>
        </a:p>
      </dsp:txBody>
      <dsp:txXfrm>
        <a:off x="1286996" y="2777638"/>
        <a:ext cx="2222123" cy="576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9568E-D159-4C4C-B3E2-96B130C86C3C}">
      <dsp:nvSpPr>
        <dsp:cNvPr id="0" name=""/>
        <dsp:cNvSpPr/>
      </dsp:nvSpPr>
      <dsp:spPr>
        <a:xfrm>
          <a:off x="3830" y="178285"/>
          <a:ext cx="2303099" cy="87267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ook Antiqua" panose="02040602050305030304" pitchFamily="18" charset="0"/>
            </a:rPr>
            <a:t>Economic Strength (35%)</a:t>
          </a:r>
        </a:p>
      </dsp:txBody>
      <dsp:txXfrm>
        <a:off x="3830" y="178285"/>
        <a:ext cx="2303099" cy="872673"/>
      </dsp:txXfrm>
    </dsp:sp>
    <dsp:sp modelId="{FE75BF62-158F-4704-AB3B-8D48276766B6}">
      <dsp:nvSpPr>
        <dsp:cNvPr id="0" name=""/>
        <dsp:cNvSpPr/>
      </dsp:nvSpPr>
      <dsp:spPr>
        <a:xfrm>
          <a:off x="3830" y="1050959"/>
          <a:ext cx="2303099" cy="78781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>
              <a:latin typeface="Book Antiqua" panose="02040602050305030304" pitchFamily="18" charset="0"/>
            </a:rPr>
            <a:t>Measures current revenue distribution</a:t>
          </a:r>
          <a:endParaRPr lang="en-IN" sz="1400" kern="1200" dirty="0"/>
        </a:p>
      </dsp:txBody>
      <dsp:txXfrm>
        <a:off x="3830" y="1050959"/>
        <a:ext cx="2303099" cy="787815"/>
      </dsp:txXfrm>
    </dsp:sp>
    <dsp:sp modelId="{A92D0518-7874-4E8B-9453-0B29D637179E}">
      <dsp:nvSpPr>
        <dsp:cNvPr id="0" name=""/>
        <dsp:cNvSpPr/>
      </dsp:nvSpPr>
      <dsp:spPr>
        <a:xfrm>
          <a:off x="2629363" y="178285"/>
          <a:ext cx="2303099" cy="87267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Book Antiqua" panose="0204060205030503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ook Antiqua" panose="02040602050305030304" pitchFamily="18" charset="0"/>
            </a:rPr>
            <a:t>Engagement Depth (25%)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>
            <a:latin typeface="Book Antiqua" panose="02040602050305030304" pitchFamily="18" charset="0"/>
          </a:endParaRPr>
        </a:p>
      </dsp:txBody>
      <dsp:txXfrm>
        <a:off x="2629363" y="178285"/>
        <a:ext cx="2303099" cy="872673"/>
      </dsp:txXfrm>
    </dsp:sp>
    <dsp:sp modelId="{23B916D2-93CA-4176-8CE5-5C2A0F04864E}">
      <dsp:nvSpPr>
        <dsp:cNvPr id="0" name=""/>
        <dsp:cNvSpPr/>
      </dsp:nvSpPr>
      <dsp:spPr>
        <a:xfrm>
          <a:off x="2629363" y="1050959"/>
          <a:ext cx="2303099" cy="78781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>
              <a:latin typeface="Book Antiqua" panose="02040602050305030304" pitchFamily="18" charset="0"/>
            </a:rPr>
            <a:t>Measures platform Interaction Intensity</a:t>
          </a:r>
          <a:endParaRPr lang="en-IN" sz="1400" kern="1200"/>
        </a:p>
      </dsp:txBody>
      <dsp:txXfrm>
        <a:off x="2629363" y="1050959"/>
        <a:ext cx="2303099" cy="787815"/>
      </dsp:txXfrm>
    </dsp:sp>
    <dsp:sp modelId="{1807EA51-7DC5-4C69-BF72-60AB7FA27986}">
      <dsp:nvSpPr>
        <dsp:cNvPr id="0" name=""/>
        <dsp:cNvSpPr/>
      </dsp:nvSpPr>
      <dsp:spPr>
        <a:xfrm>
          <a:off x="5254896" y="178285"/>
          <a:ext cx="2303099" cy="87267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ook Antiqua" panose="02040602050305030304" pitchFamily="18" charset="0"/>
            </a:rPr>
            <a:t>Stability (20%)</a:t>
          </a:r>
        </a:p>
      </dsp:txBody>
      <dsp:txXfrm>
        <a:off x="5254896" y="178285"/>
        <a:ext cx="2303099" cy="872673"/>
      </dsp:txXfrm>
    </dsp:sp>
    <dsp:sp modelId="{3A1D072A-CA85-4F9C-9AE3-904710AF51DF}">
      <dsp:nvSpPr>
        <dsp:cNvPr id="0" name=""/>
        <dsp:cNvSpPr/>
      </dsp:nvSpPr>
      <dsp:spPr>
        <a:xfrm>
          <a:off x="5254896" y="1050959"/>
          <a:ext cx="2303099" cy="78781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Book Antiqua" panose="02040602050305030304" pitchFamily="18" charset="0"/>
            </a:rPr>
            <a:t>Captures operational reliability of customers</a:t>
          </a:r>
          <a:endParaRPr lang="en-IN" sz="1400" kern="1200"/>
        </a:p>
      </dsp:txBody>
      <dsp:txXfrm>
        <a:off x="5254896" y="1050959"/>
        <a:ext cx="2303099" cy="787815"/>
      </dsp:txXfrm>
    </dsp:sp>
    <dsp:sp modelId="{E707D91C-AF2C-44AE-9A53-15439B4C065E}">
      <dsp:nvSpPr>
        <dsp:cNvPr id="0" name=""/>
        <dsp:cNvSpPr/>
      </dsp:nvSpPr>
      <dsp:spPr>
        <a:xfrm>
          <a:off x="7880430" y="178285"/>
          <a:ext cx="2303099" cy="87267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ook Antiqua" panose="02040602050305030304" pitchFamily="18" charset="0"/>
            </a:rPr>
            <a:t>Growth Potential (20%)</a:t>
          </a:r>
        </a:p>
      </dsp:txBody>
      <dsp:txXfrm>
        <a:off x="7880430" y="178285"/>
        <a:ext cx="2303099" cy="872673"/>
      </dsp:txXfrm>
    </dsp:sp>
    <dsp:sp modelId="{100A34AC-27F3-4591-80FC-01E2B403A9D4}">
      <dsp:nvSpPr>
        <dsp:cNvPr id="0" name=""/>
        <dsp:cNvSpPr/>
      </dsp:nvSpPr>
      <dsp:spPr>
        <a:xfrm>
          <a:off x="7880430" y="1050959"/>
          <a:ext cx="2303099" cy="78781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>
              <a:latin typeface="Book Antiqua" panose="02040602050305030304" pitchFamily="18" charset="0"/>
            </a:rPr>
            <a:t>Measures future monetisation opportunities</a:t>
          </a:r>
          <a:endParaRPr lang="en-IN" sz="1400" kern="1200"/>
        </a:p>
      </dsp:txBody>
      <dsp:txXfrm>
        <a:off x="7880430" y="1050959"/>
        <a:ext cx="2303099" cy="78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83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3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33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53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66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45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1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4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6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6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274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194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633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0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93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74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3A6B8-DC7E-4912-87A5-75CD786C6439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69E544-CABC-4F4A-B4E4-6E148040C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19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  <p:sldLayoutId id="2147484094" r:id="rId13"/>
    <p:sldLayoutId id="2147484095" r:id="rId14"/>
    <p:sldLayoutId id="2147484096" r:id="rId15"/>
    <p:sldLayoutId id="21474840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7EC9-ED85-3D6B-39FC-6868D44F4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35" y="1960043"/>
            <a:ext cx="11438965" cy="480831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sa Offc Serif Pro" panose="02010504030101020102" pitchFamily="2" charset="0"/>
              </a:rPr>
              <a:t>Business Context:</a:t>
            </a:r>
          </a:p>
          <a:p>
            <a:pPr marL="274320" lvl="1" indent="0">
              <a:buNone/>
            </a:pPr>
            <a:r>
              <a:rPr lang="en-US" dirty="0">
                <a:latin typeface="Tisa Offc Serif Pro" panose="02010504030101020102" pitchFamily="2" charset="0"/>
              </a:rPr>
              <a:t>Equinox has experienced rapid platform growth, but leadership suspects uneven customer quality beneath stable revenue performance.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Structural Challenges: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High cart abandonment despite strong traffic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Certain segments driving disproportionate return losses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Premium subscription growth below expectations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Revenue stability masking uneven customer value</a:t>
            </a:r>
          </a:p>
          <a:p>
            <a:r>
              <a:rPr lang="en-US" b="1" dirty="0">
                <a:latin typeface="Tisa Offc Serif Pro" panose="02010504030101020102" pitchFamily="2" charset="0"/>
              </a:rPr>
              <a:t>Objectives: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Evaluate long-term importance of each customer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Identify stable revenue drivers vs growth opportunities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sa Offc Serif Pro" panose="02010504030101020102" pitchFamily="2" charset="0"/>
              </a:rPr>
              <a:t>Allocate customers across strategic teams (CORE &amp; APEX)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sa Offc Serif Pro" panose="02010504030101020102" pitchFamily="2" charset="0"/>
              </a:rPr>
              <a:t>Deploy ₹1 Cr investment to improve portfolio quality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9484E-904C-4A29-0706-494B493A6090}"/>
              </a:ext>
            </a:extLst>
          </p:cNvPr>
          <p:cNvSpPr/>
          <p:nvPr/>
        </p:nvSpPr>
        <p:spPr>
          <a:xfrm>
            <a:off x="-8965" y="552583"/>
            <a:ext cx="12192000" cy="12819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AC91610-C54F-7AD4-0D17-10B7AC35C23A}"/>
              </a:ext>
            </a:extLst>
          </p:cNvPr>
          <p:cNvSpPr txBox="1">
            <a:spLocks/>
          </p:cNvSpPr>
          <p:nvPr/>
        </p:nvSpPr>
        <p:spPr>
          <a:xfrm>
            <a:off x="-510988" y="522460"/>
            <a:ext cx="53340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3AD264E-9D1D-9FA2-2EBE-F3B1900E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346" y="52246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Book Antiqua" panose="02040602050305030304" pitchFamily="18" charset="0"/>
              </a:rPr>
              <a:t>From Volume Growth to Value-Driven Customer Strategy</a:t>
            </a:r>
            <a:endParaRPr lang="en-IN" sz="40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5F30DF7-E53E-8E90-7609-3B9B5C29D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5441264"/>
              </p:ext>
            </p:extLst>
          </p:nvPr>
        </p:nvGraphicFramePr>
        <p:xfrm>
          <a:off x="6275294" y="2886135"/>
          <a:ext cx="4796117" cy="3374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38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D0F5-49A3-8320-5402-AF00D77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4967"/>
            <a:ext cx="9560360" cy="1183341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Customer Strategic Value Framework</a:t>
            </a:r>
            <a:br>
              <a:rPr lang="en-IN" dirty="0"/>
            </a:br>
            <a:b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A02ABB-1812-1DD8-E562-9C4F66524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388313"/>
              </p:ext>
            </p:extLst>
          </p:nvPr>
        </p:nvGraphicFramePr>
        <p:xfrm>
          <a:off x="1002320" y="812654"/>
          <a:ext cx="10187360" cy="2017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DAAAE2-1D6D-3115-299D-F8D886071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60321"/>
              </p:ext>
            </p:extLst>
          </p:nvPr>
        </p:nvGraphicFramePr>
        <p:xfrm>
          <a:off x="1002320" y="2921551"/>
          <a:ext cx="10551459" cy="26517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34235">
                  <a:extLst>
                    <a:ext uri="{9D8B030D-6E8A-4147-A177-3AD203B41FA5}">
                      <a16:colId xmlns:a16="http://schemas.microsoft.com/office/drawing/2014/main" val="1739679129"/>
                    </a:ext>
                  </a:extLst>
                </a:gridCol>
                <a:gridCol w="7817224">
                  <a:extLst>
                    <a:ext uri="{9D8B030D-6E8A-4147-A177-3AD203B41FA5}">
                      <a16:colId xmlns:a16="http://schemas.microsoft.com/office/drawing/2014/main" val="912848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Key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85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Economic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Monthly Spend (50%), AOV (30%), Conversion Rate (20%)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52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 Antiqua" panose="02040602050305030304" pitchFamily="18" charset="0"/>
                        </a:rPr>
                        <a:t>Session Time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(25%)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App Usage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(25%)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Browse-to-Buy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(25%)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Cart Items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(25%)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861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Return Rate (40%), Cart Abandonment (30%), Checkout Abandonment (30%)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354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 Antiqua" panose="02040602050305030304" pitchFamily="18" charset="0"/>
                        </a:rPr>
                        <a:t>Brand Loyalty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(40%)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Premium Adoption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(20%)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Impulse Purchases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(20%)</a:t>
                      </a:r>
                      <a:r>
                        <a:rPr lang="en-US" dirty="0">
                          <a:latin typeface="Book Antiqua" panose="02040602050305030304" pitchFamily="18" charset="0"/>
                        </a:rPr>
                        <a:t>, Loyalty Program</a:t>
                      </a:r>
                      <a:r>
                        <a:rPr lang="en-IN" dirty="0">
                          <a:latin typeface="Book Antiqua" panose="02040602050305030304" pitchFamily="18" charset="0"/>
                        </a:rPr>
                        <a:t> (20%)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4CE98D-D42A-B954-032C-442183F14572}"/>
              </a:ext>
            </a:extLst>
          </p:cNvPr>
          <p:cNvSpPr txBox="1"/>
          <p:nvPr/>
        </p:nvSpPr>
        <p:spPr>
          <a:xfrm>
            <a:off x="1138517" y="5934670"/>
            <a:ext cx="8794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Monthly spend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winsorized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 at the 99th percentile to control extreme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All variables normalized using min-max scaling</a:t>
            </a:r>
          </a:p>
          <a:p>
            <a:endParaRPr lang="en-IN" i="1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F8FA-C2A9-C7A3-3F3B-63626DF2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5220-2F09-9511-6D98-617A1630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0652"/>
            <a:ext cx="10555442" cy="1052689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Customer Segmentation &amp; Strategic Portfolio Insights</a:t>
            </a:r>
            <a:b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E77F7DA-2D54-968A-7068-73D90964D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763" y="811046"/>
            <a:ext cx="5603237" cy="3187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46CFAB-19B7-1015-AC6A-7D82C2A07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823194"/>
              </p:ext>
            </p:extLst>
          </p:nvPr>
        </p:nvGraphicFramePr>
        <p:xfrm>
          <a:off x="492763" y="4169230"/>
          <a:ext cx="11021902" cy="19867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7286">
                  <a:extLst>
                    <a:ext uri="{9D8B030D-6E8A-4147-A177-3AD203B41FA5}">
                      <a16:colId xmlns:a16="http://schemas.microsoft.com/office/drawing/2014/main" val="1951232601"/>
                    </a:ext>
                  </a:extLst>
                </a:gridCol>
                <a:gridCol w="4882308">
                  <a:extLst>
                    <a:ext uri="{9D8B030D-6E8A-4147-A177-3AD203B41FA5}">
                      <a16:colId xmlns:a16="http://schemas.microsoft.com/office/drawing/2014/main" val="258457651"/>
                    </a:ext>
                  </a:extLst>
                </a:gridCol>
                <a:gridCol w="4882308">
                  <a:extLst>
                    <a:ext uri="{9D8B030D-6E8A-4147-A177-3AD203B41FA5}">
                      <a16:colId xmlns:a16="http://schemas.microsoft.com/office/drawing/2014/main" val="2227312449"/>
                    </a:ext>
                  </a:extLst>
                </a:gridCol>
              </a:tblGrid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Segment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Characteristics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Strategic Insight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01915"/>
                  </a:ext>
                </a:extLst>
              </a:tr>
              <a:tr h="477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Elite</a:t>
                      </a:r>
                      <a:endParaRPr lang="en-IN" sz="150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Book Antiqua" panose="02040602050305030304" pitchFamily="18" charset="0"/>
                        </a:rPr>
                        <a:t>Highest spend, strong engagement, strong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Book Antiqua" panose="02040602050305030304" pitchFamily="18" charset="0"/>
                        </a:rPr>
                        <a:t>Revenue drivers but high return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76861"/>
                  </a:ext>
                </a:extLst>
              </a:tr>
              <a:tr h="54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Growth</a:t>
                      </a:r>
                      <a:endParaRPr lang="en-IN" sz="150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Book Antiqua" panose="02040602050305030304" pitchFamily="18" charset="0"/>
                        </a:rPr>
                        <a:t>High engagement, strong conversion, highest premium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Book Antiqua" panose="02040602050305030304" pitchFamily="18" charset="0"/>
                        </a:rPr>
                        <a:t>High-potential segment for monetization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707926"/>
                  </a:ext>
                </a:extLst>
              </a:tr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Book Antiqua" panose="02040602050305030304" pitchFamily="18" charset="0"/>
                        </a:rPr>
                        <a:t>Moderate</a:t>
                      </a:r>
                      <a:endParaRPr lang="en-IN" sz="150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Book Antiqua" panose="02040602050305030304" pitchFamily="18" charset="0"/>
                        </a:rPr>
                        <a:t>Medium engagement, low 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Book Antiqua" panose="02040602050305030304" pitchFamily="18" charset="0"/>
                        </a:rPr>
                        <a:t>Stable but low revenue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569254"/>
                  </a:ext>
                </a:extLst>
              </a:tr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Book Antiqua" panose="02040602050305030304" pitchFamily="18" charset="0"/>
                        </a:rPr>
                        <a:t>Low Value</a:t>
                      </a:r>
                      <a:endParaRPr lang="en-IN" sz="150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Book Antiqua" panose="02040602050305030304" pitchFamily="18" charset="0"/>
                        </a:rPr>
                        <a:t>Low spend, high abandonment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Book Antiqua" panose="02040602050305030304" pitchFamily="18" charset="0"/>
                        </a:rPr>
                        <a:t>Traffic heavy but economically weak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731580"/>
                  </a:ext>
                </a:extLst>
              </a:tr>
            </a:tbl>
          </a:graphicData>
        </a:graphic>
      </p:graphicFrame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915EF0D5-7579-28FA-7069-871416F5E810}"/>
              </a:ext>
            </a:extLst>
          </p:cNvPr>
          <p:cNvSpPr/>
          <p:nvPr/>
        </p:nvSpPr>
        <p:spPr>
          <a:xfrm>
            <a:off x="6239731" y="811046"/>
            <a:ext cx="5274935" cy="3187213"/>
          </a:xfrm>
          <a:prstGeom prst="round2Diag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EAB040-E847-DE04-05D1-82CABB1436F4}"/>
              </a:ext>
            </a:extLst>
          </p:cNvPr>
          <p:cNvSpPr txBox="1"/>
          <p:nvPr/>
        </p:nvSpPr>
        <p:spPr>
          <a:xfrm>
            <a:off x="6458572" y="906700"/>
            <a:ext cx="5056094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Book Antiqua" panose="02040602050305030304" pitchFamily="18" charset="0"/>
                <a:cs typeface="Angsana New" panose="02020603050405020304" pitchFamily="18" charset="-34"/>
              </a:rPr>
              <a:t>Portfolio Composition</a:t>
            </a:r>
            <a:r>
              <a:rPr lang="en-US" sz="1500" dirty="0">
                <a:latin typeface="Book Antiqua" panose="02040602050305030304" pitchFamily="18" charset="0"/>
                <a:cs typeface="Angsana New" panose="02020603050405020304" pitchFamily="18" charset="-34"/>
              </a:rPr>
              <a:t>: Most customers belong to Moderate and Low Value segments, indicating a volume-driven customer base rather than value-driven growth.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Book Antiqua" panose="02040602050305030304" pitchFamily="18" charset="0"/>
                <a:cs typeface="Angsana New" panose="02020603050405020304" pitchFamily="18" charset="-34"/>
              </a:rPr>
              <a:t>Revenue Concentration</a:t>
            </a:r>
            <a:r>
              <a:rPr lang="en-US" sz="1500" dirty="0">
                <a:latin typeface="Book Antiqua" panose="02040602050305030304" pitchFamily="18" charset="0"/>
                <a:cs typeface="Angsana New" panose="02020603050405020304" pitchFamily="18" charset="-34"/>
              </a:rPr>
              <a:t>: Elite customers generate disproportionate revenue, spending ₹12.6K on average — nearly 5× the Growth segment.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Book Antiqua" panose="02040602050305030304" pitchFamily="18" charset="0"/>
                <a:cs typeface="Angsana New" panose="02020603050405020304" pitchFamily="18" charset="-34"/>
              </a:rPr>
              <a:t>Risk in High-Value Segment</a:t>
            </a:r>
            <a:r>
              <a:rPr lang="en-US" sz="1500" dirty="0">
                <a:latin typeface="Book Antiqua" panose="02040602050305030304" pitchFamily="18" charset="0"/>
                <a:cs typeface="Angsana New" panose="02020603050405020304" pitchFamily="18" charset="-34"/>
              </a:rPr>
              <a:t>: Elite customers show the highest return rate (0.63), indicating a trade-off between revenue and operational cost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Book Antiqua" panose="02040602050305030304" pitchFamily="18" charset="0"/>
                <a:cs typeface="Angsana New" panose="02020603050405020304" pitchFamily="18" charset="-34"/>
              </a:rPr>
              <a:t>Growth Opportunity</a:t>
            </a:r>
            <a:r>
              <a:rPr lang="en-US" sz="1500" dirty="0">
                <a:latin typeface="Book Antiqua" panose="02040602050305030304" pitchFamily="18" charset="0"/>
                <a:cs typeface="Angsana New" panose="02020603050405020304" pitchFamily="18" charset="-34"/>
              </a:rPr>
              <a:t>: Growth customers demonstrate the highest premium adoption (0.67), making them ideal targets for monetization initiatives.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2D2EB-4D9A-CD61-DD4A-FE4B874D4B01}"/>
              </a:ext>
            </a:extLst>
          </p:cNvPr>
          <p:cNvSpPr txBox="1"/>
          <p:nvPr/>
        </p:nvSpPr>
        <p:spPr>
          <a:xfrm>
            <a:off x="430009" y="6326944"/>
            <a:ext cx="1108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The platform must protect high-value Elite customers while strategically investing in Growth customers to expand premium adoption and long-term revenue potential.</a:t>
            </a:r>
            <a:endParaRPr lang="en-IN" sz="1400" b="1" i="1" dirty="0">
              <a:highlight>
                <a:srgbClr val="00FFFF"/>
              </a:highlight>
              <a:latin typeface="Tisa Offc Serif Pro" panose="02010504030101020102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3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BC48D-0E74-24F3-BB9D-61BBC036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B51E-84A6-052D-4A2D-CA85AB29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0652"/>
            <a:ext cx="10555442" cy="1052689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Strategic Customer Allocation: CORE vs APEX</a:t>
            </a:r>
            <a:b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AE5633C-9026-3D58-55F6-7EFDCABC9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763" y="811046"/>
            <a:ext cx="5603237" cy="3187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DBEFD8-201C-B567-F417-71E9B0A86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505827"/>
              </p:ext>
            </p:extLst>
          </p:nvPr>
        </p:nvGraphicFramePr>
        <p:xfrm>
          <a:off x="430009" y="4156761"/>
          <a:ext cx="11233072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0172">
                  <a:extLst>
                    <a:ext uri="{9D8B030D-6E8A-4147-A177-3AD203B41FA5}">
                      <a16:colId xmlns:a16="http://schemas.microsoft.com/office/drawing/2014/main" val="1951232601"/>
                    </a:ext>
                  </a:extLst>
                </a:gridCol>
                <a:gridCol w="2588406">
                  <a:extLst>
                    <a:ext uri="{9D8B030D-6E8A-4147-A177-3AD203B41FA5}">
                      <a16:colId xmlns:a16="http://schemas.microsoft.com/office/drawing/2014/main" val="227310536"/>
                    </a:ext>
                  </a:extLst>
                </a:gridCol>
                <a:gridCol w="3334872">
                  <a:extLst>
                    <a:ext uri="{9D8B030D-6E8A-4147-A177-3AD203B41FA5}">
                      <a16:colId xmlns:a16="http://schemas.microsoft.com/office/drawing/2014/main" val="258457651"/>
                    </a:ext>
                  </a:extLst>
                </a:gridCol>
                <a:gridCol w="4159622">
                  <a:extLst>
                    <a:ext uri="{9D8B030D-6E8A-4147-A177-3AD203B41FA5}">
                      <a16:colId xmlns:a16="http://schemas.microsoft.com/office/drawing/2014/main" val="2227312449"/>
                    </a:ext>
                  </a:extLst>
                </a:gridCol>
              </a:tblGrid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Segment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Book Antiqua" panose="02040602050305030304" pitchFamily="18" charset="0"/>
                        </a:rPr>
                        <a:t>Rules</a:t>
                      </a:r>
                      <a:endParaRPr lang="en-IN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Role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Strategy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01915"/>
                  </a:ext>
                </a:extLst>
              </a:tr>
              <a:tr h="41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Strategic Value ≥ 50 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Stability Score ≥ 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Stable high-value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Retention &amp; risk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76861"/>
                  </a:ext>
                </a:extLst>
              </a:tr>
              <a:tr h="325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 Antiqua" panose="02040602050305030304" pitchFamily="18" charset="0"/>
                        </a:rPr>
                        <a:t>Engagement ≥ 35  </a:t>
                      </a: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Book Antiqua" panose="02040602050305030304" pitchFamily="18" charset="0"/>
                        </a:rPr>
                        <a:t>Growth Score ≥ 35</a:t>
                      </a:r>
                      <a:endParaRPr lang="en-IN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Growth potential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Monetization &amp; premium expansion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707926"/>
                  </a:ext>
                </a:extLst>
              </a:tr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 Antiqua" panose="02040602050305030304" pitchFamily="18" charset="0"/>
                        </a:rPr>
                        <a:t>-</a:t>
                      </a:r>
                      <a:endParaRPr lang="en-IN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Low strategic 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Minimal 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569254"/>
                  </a:ext>
                </a:extLst>
              </a:tr>
            </a:tbl>
          </a:graphicData>
        </a:graphic>
      </p:graphicFrame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E1D78D3D-3769-CD0C-7759-178D6F34EC57}"/>
              </a:ext>
            </a:extLst>
          </p:cNvPr>
          <p:cNvSpPr/>
          <p:nvPr/>
        </p:nvSpPr>
        <p:spPr>
          <a:xfrm>
            <a:off x="6239731" y="811046"/>
            <a:ext cx="5274935" cy="3187213"/>
          </a:xfrm>
          <a:prstGeom prst="round2Diag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C1B62-A9DF-81A8-4030-92EB4D1854D3}"/>
              </a:ext>
            </a:extLst>
          </p:cNvPr>
          <p:cNvSpPr txBox="1"/>
          <p:nvPr/>
        </p:nvSpPr>
        <p:spPr>
          <a:xfrm>
            <a:off x="6380676" y="905724"/>
            <a:ext cx="5274934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sa Offc Serif Pro" panose="02010504030101020102" pitchFamily="2" charset="0"/>
              </a:rPr>
              <a:t>Strategic Value Concentration</a:t>
            </a:r>
            <a:r>
              <a:rPr lang="en-US" sz="1500" dirty="0">
                <a:latin typeface="Tisa Offc Serif Pro" panose="02010504030101020102" pitchFamily="2" charset="0"/>
              </a:rPr>
              <a:t>: Only ~37% of customers fall into CORE or APEX, indicating that a small portion of the customer base drives most of the platform’s strategic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sa Offc Serif Pro" panose="02010504030101020102" pitchFamily="2" charset="0"/>
              </a:rPr>
              <a:t>CORE Revenue Backbone</a:t>
            </a:r>
            <a:r>
              <a:rPr lang="en-US" sz="1500" dirty="0">
                <a:latin typeface="Tisa Offc Serif Pro" panose="02010504030101020102" pitchFamily="2" charset="0"/>
              </a:rPr>
              <a:t>: CORE customers spend ~2.3–2.4× more than other segments, demonstrating strong monetization, loyalty, and premium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sa Offc Serif Pro" panose="02010504030101020102" pitchFamily="2" charset="0"/>
              </a:rPr>
              <a:t>APEX Growth Engine</a:t>
            </a:r>
            <a:r>
              <a:rPr lang="en-US" sz="1500" dirty="0">
                <a:latin typeface="Tisa Offc Serif Pro" panose="02010504030101020102" pitchFamily="2" charset="0"/>
              </a:rPr>
              <a:t>: APEX customers exhibit high engagement and growth signals but lower monetization, indicating untapped revenue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sa Offc Serif Pro" panose="02010504030101020102" pitchFamily="2" charset="0"/>
              </a:rPr>
              <a:t>Limited ROI from OTHER Segment</a:t>
            </a:r>
            <a:r>
              <a:rPr lang="en-US" sz="1500" dirty="0">
                <a:latin typeface="Tisa Offc Serif Pro" panose="02010504030101020102" pitchFamily="2" charset="0"/>
              </a:rPr>
              <a:t>: OTHER customers show low spending and weak engagement, suggesting limited return on investment.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EFFA27-6BCB-6F92-F358-DF63C8614C77}"/>
              </a:ext>
            </a:extLst>
          </p:cNvPr>
          <p:cNvSpPr txBox="1"/>
          <p:nvPr/>
        </p:nvSpPr>
        <p:spPr>
          <a:xfrm>
            <a:off x="430009" y="6326944"/>
            <a:ext cx="1108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By prioritizing CORE for stability and APEX for expansion, Equinox can transition from volume-driven growth to value-driven customer prioritization</a:t>
            </a:r>
            <a:r>
              <a:rPr lang="en-US" sz="1400" b="1" i="1" dirty="0">
                <a:highlight>
                  <a:srgbClr val="00FFFF"/>
                </a:highlight>
                <a:latin typeface="Book Antiqua" panose="02040602050305030304" pitchFamily="18" charset="0"/>
              </a:rPr>
              <a:t>.</a:t>
            </a:r>
            <a:endParaRPr lang="en-IN" sz="1400" b="1" i="1" dirty="0">
              <a:highlight>
                <a:srgbClr val="00FFFF"/>
              </a:highlight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8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92E3-03D9-E583-BA60-DBB120A9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9710-B25F-34DA-D6EA-9E42E438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130652"/>
            <a:ext cx="11641463" cy="1052689"/>
          </a:xfrm>
        </p:spPr>
        <p:txBody>
          <a:bodyPr>
            <a:normAutofit fontScale="90000"/>
          </a:bodyPr>
          <a:lstStyle/>
          <a:p>
            <a:r>
              <a:rPr lang="en-IN" sz="3100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Strategic Capital Allocation to Improve Customer Portfolio Quality</a:t>
            </a:r>
            <a:b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0943688-3FD2-496D-9FDC-B3ADED09F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800" y="617242"/>
            <a:ext cx="5357558" cy="32106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846526-0AEA-FA53-6AB8-2D64EC3F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82205"/>
              </p:ext>
            </p:extLst>
          </p:nvPr>
        </p:nvGraphicFramePr>
        <p:xfrm>
          <a:off x="647800" y="3963904"/>
          <a:ext cx="11058409" cy="22768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9139">
                  <a:extLst>
                    <a:ext uri="{9D8B030D-6E8A-4147-A177-3AD203B41FA5}">
                      <a16:colId xmlns:a16="http://schemas.microsoft.com/office/drawing/2014/main" val="1951232601"/>
                    </a:ext>
                  </a:extLst>
                </a:gridCol>
                <a:gridCol w="1381308">
                  <a:extLst>
                    <a:ext uri="{9D8B030D-6E8A-4147-A177-3AD203B41FA5}">
                      <a16:colId xmlns:a16="http://schemas.microsoft.com/office/drawing/2014/main" val="227310536"/>
                    </a:ext>
                  </a:extLst>
                </a:gridCol>
                <a:gridCol w="3283018">
                  <a:extLst>
                    <a:ext uri="{9D8B030D-6E8A-4147-A177-3AD203B41FA5}">
                      <a16:colId xmlns:a16="http://schemas.microsoft.com/office/drawing/2014/main" val="258457651"/>
                    </a:ext>
                  </a:extLst>
                </a:gridCol>
                <a:gridCol w="4094944">
                  <a:extLst>
                    <a:ext uri="{9D8B030D-6E8A-4147-A177-3AD203B41FA5}">
                      <a16:colId xmlns:a16="http://schemas.microsoft.com/office/drawing/2014/main" val="2227312449"/>
                    </a:ext>
                  </a:extLst>
                </a:gridCol>
              </a:tblGrid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Initiative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Target Segment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Budget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Expected Impact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01915"/>
                  </a:ext>
                </a:extLst>
              </a:tr>
              <a:tr h="41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Premium Campaign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₹35L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+8% premium adoption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76861"/>
                  </a:ext>
                </a:extLst>
              </a:tr>
              <a:tr h="325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Engagement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₹25L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+5% conversion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707926"/>
                  </a:ext>
                </a:extLst>
              </a:tr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Return Reduction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₹20L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ook Antiqua" panose="02040602050305030304" pitchFamily="18" charset="0"/>
                        </a:rPr>
                        <a:t>−3% return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569254"/>
                  </a:ext>
                </a:extLst>
              </a:tr>
              <a:tr h="30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Loyalty Rewards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₹20L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ook Antiqua" panose="02040602050305030304" pitchFamily="18" charset="0"/>
                        </a:rPr>
                        <a:t>+4% engagement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01034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E06365-D818-4408-D970-1D58A2691865}"/>
              </a:ext>
            </a:extLst>
          </p:cNvPr>
          <p:cNvSpPr txBox="1"/>
          <p:nvPr/>
        </p:nvSpPr>
        <p:spPr>
          <a:xfrm>
            <a:off x="581767" y="6345489"/>
            <a:ext cx="115856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Capital deployment prioritizes APEX-driven growth (60%) while safeguarding CORE stability (40%), creating a balanced customer portfolio strategy.</a:t>
            </a:r>
          </a:p>
          <a:p>
            <a:r>
              <a:rPr lang="en-US" sz="13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Targeted behavioral interventions improve overall Customer Strategic Value by ~13%.</a:t>
            </a:r>
            <a:endParaRPr lang="en-IN" sz="1300" b="1" i="1" dirty="0">
              <a:highlight>
                <a:srgbClr val="00FFFF"/>
              </a:highlight>
              <a:latin typeface="Tisa Offc Serif Pro" panose="02010504030101020102" pitchFamily="2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00B14430-6082-0248-ACF0-69D6A00680D9}"/>
              </a:ext>
            </a:extLst>
          </p:cNvPr>
          <p:cNvSpPr/>
          <p:nvPr/>
        </p:nvSpPr>
        <p:spPr>
          <a:xfrm>
            <a:off x="6177004" y="1950491"/>
            <a:ext cx="5274935" cy="1877438"/>
          </a:xfrm>
          <a:prstGeom prst="round2Diag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Key 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Premium adoption increases +8% through targeted incentives for high-engagement APEX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Conversion improves +5% through personalized recommendations and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Book Antiqua" panose="02040602050305030304" pitchFamily="18" charset="0"/>
              </a:rPr>
              <a:t>Return rate decreases −3% through better product recommendations and product information</a:t>
            </a:r>
          </a:p>
        </p:txBody>
      </p:sp>
    </p:spTree>
    <p:extLst>
      <p:ext uri="{BB962C8B-B14F-4D97-AF65-F5344CB8AC3E}">
        <p14:creationId xmlns:p14="http://schemas.microsoft.com/office/powerpoint/2010/main" val="68514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0A0F-1E21-C886-C490-985C5810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CF9-61A7-02F0-5DB3-52F14E52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20" y="103758"/>
            <a:ext cx="11641463" cy="1052689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Portfolio Impact Simulation</a:t>
            </a:r>
            <a:b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51C1A59-2FF2-B5B8-BA17-7A00601EA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114" y="850986"/>
            <a:ext cx="5357558" cy="45374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25A629-EFB1-A789-C24C-A906D1BC54CA}"/>
              </a:ext>
            </a:extLst>
          </p:cNvPr>
          <p:cNvSpPr txBox="1"/>
          <p:nvPr/>
        </p:nvSpPr>
        <p:spPr>
          <a:xfrm>
            <a:off x="594363" y="5643235"/>
            <a:ext cx="115856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Targeted behavioral interventions improve engagement, monetization, and operational stability — increasing overall Customer Strategic Value by ~</a:t>
            </a:r>
            <a:r>
              <a:rPr lang="en-US" sz="16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13</a:t>
            </a:r>
            <a:r>
              <a:rPr lang="en-US" sz="14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%.</a:t>
            </a:r>
          </a:p>
          <a:p>
            <a:r>
              <a:rPr lang="en-US" sz="1400" b="1" i="1" dirty="0">
                <a:highlight>
                  <a:srgbClr val="00FFFF"/>
                </a:highlight>
                <a:latin typeface="Tisa Offc Serif Pro" panose="02010504030101020102" pitchFamily="2" charset="0"/>
              </a:rPr>
              <a:t>This demonstrates that focused investment in high-impact customer segments can significantly enhance long-term platform profitability and portfolio quality.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9E976E53-A246-9D72-49D3-28DE2336BD41}"/>
              </a:ext>
            </a:extLst>
          </p:cNvPr>
          <p:cNvSpPr/>
          <p:nvPr/>
        </p:nvSpPr>
        <p:spPr>
          <a:xfrm>
            <a:off x="6260301" y="850986"/>
            <a:ext cx="5274935" cy="4537464"/>
          </a:xfrm>
          <a:prstGeom prst="round2Diag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dirty="0">
                <a:solidFill>
                  <a:schemeClr val="tx1"/>
                </a:solidFill>
                <a:latin typeface="Book Antiqua" panose="02040602050305030304" pitchFamily="18" charset="0"/>
              </a:rPr>
              <a:t>Strategic Impact:</a:t>
            </a:r>
          </a:p>
          <a:p>
            <a:endParaRPr lang="en-IN" sz="15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lvl="1"/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Premium Adoption Growth (37% → 45%):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Higher recurring subscription revenue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Increased customer loyalty and platform lock-in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Higher customer lifetime value (CLV)</a:t>
            </a:r>
          </a:p>
          <a:p>
            <a:pPr lvl="1"/>
            <a:endParaRPr lang="en-IN" sz="15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Conversion Rate Improvement (43% → 48%):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More purchases from existing traffic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Higher revenue efficiency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Better monetization of engagement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tx1"/>
              </a:solidFill>
              <a:latin typeface="Book Antiqua" panose="02040602050305030304" pitchFamily="18" charset="0"/>
            </a:endParaRPr>
          </a:p>
          <a:p>
            <a:pPr lvl="1"/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Return Rate Reduction (34% → 31%):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Book Antiqua" panose="02040602050305030304" pitchFamily="18" charset="0"/>
              </a:rPr>
              <a:t>Lower reverse logistics and refund costs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More stable revenue realization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Book Antiqua" panose="02040602050305030304" pitchFamily="18" charset="0"/>
              </a:rPr>
              <a:t>Reduced operational volatility</a:t>
            </a:r>
          </a:p>
        </p:txBody>
      </p:sp>
    </p:spTree>
    <p:extLst>
      <p:ext uri="{BB962C8B-B14F-4D97-AF65-F5344CB8AC3E}">
        <p14:creationId xmlns:p14="http://schemas.microsoft.com/office/powerpoint/2010/main" val="2724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2237-855D-C387-1EDD-F499A570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46" y="304799"/>
            <a:ext cx="10098242" cy="67235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solidFill>
                  <a:schemeClr val="tx1"/>
                </a:solidFill>
                <a:latin typeface="Tisa Offc Serif Pro" panose="02010504030101020102" pitchFamily="2" charset="0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588D4-691D-6CF4-61F4-AE1786AC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324" y="1018527"/>
            <a:ext cx="5777253" cy="51726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b="1" dirty="0">
                <a:latin typeface="Book Antiqua" panose="02040602050305030304" pitchFamily="18" charset="0"/>
              </a:rPr>
              <a:t>Monetize APEX Growth Segment</a:t>
            </a:r>
          </a:p>
          <a:p>
            <a:pPr marL="400050" lvl="1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APEX customers show strong engagement but are under-monetized.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Expand premium subscription campaigns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Use personalized recommendations to increase conversion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Encourage repeat purchases and larger baskets</a:t>
            </a:r>
          </a:p>
          <a:p>
            <a:pPr marL="400050" lvl="1" indent="0">
              <a:buNone/>
            </a:pPr>
            <a:r>
              <a:rPr lang="en-US" sz="1800" b="1" dirty="0">
                <a:latin typeface="Book Antiqua" panose="02040602050305030304" pitchFamily="18" charset="0"/>
              </a:rPr>
              <a:t>Outcome:</a:t>
            </a:r>
            <a:r>
              <a:rPr lang="en-US" sz="1800" dirty="0">
                <a:latin typeface="Book Antiqua" panose="02040602050305030304" pitchFamily="18" charset="0"/>
              </a:rPr>
              <a:t> Higher long-term revenue growth.</a:t>
            </a:r>
          </a:p>
          <a:p>
            <a:pPr marL="457200" lvl="1" indent="0">
              <a:buNone/>
            </a:pPr>
            <a:endParaRPr lang="en-US" sz="1500" dirty="0">
              <a:latin typeface="Bell MT" panose="02020503060305020303" pitchFamily="18" charset="0"/>
            </a:endParaRPr>
          </a:p>
          <a:p>
            <a:pPr marL="857250" lvl="2" indent="0">
              <a:buNone/>
            </a:pP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5E3298-83BC-EDF8-2C92-C028F9373F4F}"/>
              </a:ext>
            </a:extLst>
          </p:cNvPr>
          <p:cNvSpPr txBox="1">
            <a:spLocks/>
          </p:cNvSpPr>
          <p:nvPr/>
        </p:nvSpPr>
        <p:spPr>
          <a:xfrm>
            <a:off x="517962" y="1019220"/>
            <a:ext cx="5486400" cy="5387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</a:rPr>
              <a:t>Protect CORE Revenue Base</a:t>
            </a:r>
          </a:p>
          <a:p>
            <a:pPr marL="400050" lvl="1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CORE customers generate the most stable and high-value revenue.</a:t>
            </a:r>
            <a:endParaRPr lang="en-US" sz="2000" dirty="0">
              <a:latin typeface="Book Antiqua" panose="0204060205030503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Strengthen loyalty and retention programs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Reduce return-related operational risks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Offer exclusive benefits to maintain engagement</a:t>
            </a:r>
          </a:p>
          <a:p>
            <a:pPr marL="400050" lvl="1" indent="0">
              <a:buNone/>
            </a:pPr>
            <a:r>
              <a:rPr lang="en-US" sz="1800" b="1" dirty="0">
                <a:latin typeface="Book Antiqua" panose="02040602050305030304" pitchFamily="18" charset="0"/>
              </a:rPr>
              <a:t>Outcome:</a:t>
            </a:r>
            <a:r>
              <a:rPr lang="en-US" sz="1800" dirty="0">
                <a:latin typeface="Book Antiqua" panose="02040602050305030304" pitchFamily="18" charset="0"/>
              </a:rPr>
              <a:t> Stable and predictable revenue streams.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Book Antiqua" panose="02040602050305030304" pitchFamily="18" charset="0"/>
              </a:rPr>
              <a:t>Improve Operational Efficiency</a:t>
            </a:r>
          </a:p>
          <a:p>
            <a:pPr marL="400050" lvl="1" indent="0">
              <a:buNone/>
            </a:pPr>
            <a:r>
              <a:rPr lang="en-US" sz="1800" dirty="0">
                <a:latin typeface="Book Antiqua" panose="02040602050305030304" pitchFamily="18" charset="0"/>
              </a:rPr>
              <a:t>High return rates create unnecessary costs.</a:t>
            </a:r>
            <a:endParaRPr lang="en-US" sz="2000" dirty="0">
              <a:latin typeface="Book Antiqua" panose="0204060205030503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Improve product recommendations and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Book Antiqua" panose="02040602050305030304" pitchFamily="18" charset="0"/>
              </a:rPr>
              <a:t>Monitor return behavior in high-spend segments</a:t>
            </a:r>
          </a:p>
          <a:p>
            <a:pPr marL="400050" lvl="1" indent="0">
              <a:buNone/>
            </a:pPr>
            <a:r>
              <a:rPr lang="en-US" sz="1800" b="1" dirty="0">
                <a:latin typeface="Book Antiqua" panose="02040602050305030304" pitchFamily="18" charset="0"/>
              </a:rPr>
              <a:t>Outcome:</a:t>
            </a:r>
            <a:r>
              <a:rPr lang="en-US" sz="1800" dirty="0">
                <a:latin typeface="Book Antiqua" panose="02040602050305030304" pitchFamily="18" charset="0"/>
              </a:rPr>
              <a:t> Lower operational costs and improved revenue stability.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FCB72-ABFF-978D-763D-BAF9451331E5}"/>
              </a:ext>
            </a:extLst>
          </p:cNvPr>
          <p:cNvSpPr/>
          <p:nvPr/>
        </p:nvSpPr>
        <p:spPr>
          <a:xfrm>
            <a:off x="0" y="6223916"/>
            <a:ext cx="12191999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35693-56EA-83B9-0DED-F87FD5D5B19C}"/>
              </a:ext>
            </a:extLst>
          </p:cNvPr>
          <p:cNvSpPr txBox="1"/>
          <p:nvPr/>
        </p:nvSpPr>
        <p:spPr>
          <a:xfrm>
            <a:off x="20421" y="6256671"/>
            <a:ext cx="11967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Tisa Offc Serif Pro" panose="02010504030101020102" pitchFamily="2" charset="0"/>
              </a:rPr>
              <a:t>By prioritizing CORE stability and APEX growth, Equinox shifts from volume-driven expansion to value-driven customer strategy, improving portfolio quality and sustainable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83714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BD70-79A3-E59F-569A-982A39FA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83" y="2624328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C78F8EF9-2556-9090-B74A-0DB816C6B745}"/>
              </a:ext>
            </a:extLst>
          </p:cNvPr>
          <p:cNvSpPr/>
          <p:nvPr/>
        </p:nvSpPr>
        <p:spPr>
          <a:xfrm>
            <a:off x="7826188" y="5665694"/>
            <a:ext cx="4365812" cy="1192306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9E860-98FE-C595-55BA-DC5888B79850}"/>
              </a:ext>
            </a:extLst>
          </p:cNvPr>
          <p:cNvSpPr txBox="1"/>
          <p:nvPr/>
        </p:nvSpPr>
        <p:spPr>
          <a:xfrm>
            <a:off x="8005483" y="5810978"/>
            <a:ext cx="4267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sa Offc Serif Pro" panose="02010504030101020102" pitchFamily="2" charset="0"/>
              </a:rPr>
              <a:t>Ruchi Rathore (IT 4</a:t>
            </a:r>
            <a:r>
              <a:rPr lang="en-US" baseline="30000" dirty="0">
                <a:latin typeface="Tisa Offc Serif Pro" panose="02010504030101020102" pitchFamily="2" charset="0"/>
              </a:rPr>
              <a:t>th</a:t>
            </a:r>
            <a:r>
              <a:rPr lang="en-US" dirty="0">
                <a:latin typeface="Tisa Offc Serif Pro" panose="02010504030101020102" pitchFamily="2" charset="0"/>
              </a:rPr>
              <a:t> Year)</a:t>
            </a:r>
          </a:p>
          <a:p>
            <a:r>
              <a:rPr lang="en-US" dirty="0">
                <a:latin typeface="Tisa Offc Serif Pro" panose="02010504030101020102" pitchFamily="2" charset="0"/>
              </a:rPr>
              <a:t>-Government Engineering College Ajmer </a:t>
            </a:r>
            <a:endParaRPr lang="en-IN" dirty="0">
              <a:latin typeface="Tisa Offc Serif Pro" panose="02010504030101020102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459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141</TotalTime>
  <Words>974</Words>
  <Application>Microsoft Office PowerPoint</Application>
  <PresentationFormat>Widescreen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Algerian</vt:lpstr>
      <vt:lpstr>Arial</vt:lpstr>
      <vt:lpstr>Bell MT</vt:lpstr>
      <vt:lpstr>Book Antiqua</vt:lpstr>
      <vt:lpstr>Times New Roman</vt:lpstr>
      <vt:lpstr>Tisa Offc Serif Pro</vt:lpstr>
      <vt:lpstr>Trebuchet MS</vt:lpstr>
      <vt:lpstr>Wingdings</vt:lpstr>
      <vt:lpstr>Wingdings 3</vt:lpstr>
      <vt:lpstr>Facet</vt:lpstr>
      <vt:lpstr>From Volume Growth to Value-Driven Customer Strategy</vt:lpstr>
      <vt:lpstr>Customer Strategic Value Framework  </vt:lpstr>
      <vt:lpstr>Customer Segmentation &amp; Strategic Portfolio Insights </vt:lpstr>
      <vt:lpstr>Strategic Customer Allocation: CORE vs APEX </vt:lpstr>
      <vt:lpstr>Strategic Capital Allocation to Improve Customer Portfolio Quality </vt:lpstr>
      <vt:lpstr>Portfolio Impact Simulation </vt:lpstr>
      <vt:lpstr>Strategic Recommendations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 Rathore</dc:creator>
  <cp:lastModifiedBy>Ruchi Rathore</cp:lastModifiedBy>
  <cp:revision>7</cp:revision>
  <dcterms:created xsi:type="dcterms:W3CDTF">2026-03-08T18:21:54Z</dcterms:created>
  <dcterms:modified xsi:type="dcterms:W3CDTF">2026-03-08T20:43:37Z</dcterms:modified>
</cp:coreProperties>
</file>